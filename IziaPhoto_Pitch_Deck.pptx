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Shape_4"/>
    <p:cNvSpPr/>
    <p:nvPr/>
  </p:nvSpPr>
  <p:spPr>
    <a:xfrm>
      <a:off x="0" y="0"/>
      <a:ext cx="12192000" cy="140000"/>
    </a:xfrm>
    <a:prstGeom prst="rect"><a:avLst/></a:prstGeom>
    <a:solidFill><a:srgbClr val="F43F5E"/></a:solidFill>
    <a:ln><a:noFill/></a:ln>
  </p:spPr>
</p:sp>
<p:sp>
  <p:nvSpPr>
    <p:cNvPr id="5" name="TextBox_5"/>
    <p:cNvSpPr txBox="1"/>
    <p:nvPr/>
  </p:nvSpPr>
  <p:spPr>
    <a:xfrm>
      <a:off x="800000" y="1200000"/>
      <a:ext cx="3600000" cy="450000"/>
    </a:xfrm>
    <a:prstGeom prst="roundRect" if bg_color else "rect"><a:avLst/></a:prstGeom>
    <a:solidFill><a:srgbClr val="23131D"/></a:solidFill>
    <a:ln w="12700"><a:solidFill><a:srgbClr val="882035"/></a:solidFill></a:ln>
  </p:spPr>
  <p:txBody>
    <a:bodyPr wrap="square" lIns="140000" tIns="140000" rIns="140000" bIns="140000"/>
    <a:lstStyle/>
    <a:p><a:pPr algn="ctr"/><a:r>
  <a:rPr lang="id-ID" sz="1100" b="1">
    <a:solidFill><a:srgbClr val="F43F5E"/></a:solidFill>
    <a:latin typeface="Arial"/>
  </a:rPr>
  <a:t>★ PITCH DECK 2026 • SEED STAGE</a:t>
</a:r></a:p>
  </p:txBody>
</p:sp>
<p:sp>
  <p:nvSpPr>
    <p:cNvPr id="6" name="TextBox_6"/>
    <p:cNvSpPr txBox="1"/>
    <p:nvPr/>
  </p:nvSpPr>
  <p:spPr>
    <a:xfrm>
      <a:off x="800000" y="1850000"/>
      <a:ext cx="10500000" cy="13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6000" b="1">
    <a:solidFill><a:srgbClr val="FFFFFF"/></a:solidFill>
    <a:latin typeface="Arial"/>
  </a:rPr>
  <a:t>IZIAPHOTO</a:t>
</a:r></a:p>
  </p:txBody>
</p:sp>
<p:sp>
  <p:nvSpPr>
    <p:cNvPr id="7" name="TextBox_7"/>
    <p:cNvSpPr txBox="1"/>
    <p:nvPr/>
  </p:nvSpPr>
  <p:spPr>
    <a:xfrm>
      <a:off x="800000" y="3100000"/>
      <a:ext cx="10500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400" b="1">
    <a:solidFill><a:srgbClr val="F43F5E"/></a:solidFill>
    <a:latin typeface="Arial"/>
  </a:rPr>
  <a:t>The Next-Gen Digital Photobooth in Your Pocket</a:t>
</a:r></a:p>
  </p:txBody>
</p:sp>
<p:sp>
  <p:nvSpPr>
    <p:cNvPr id="8" name="TextBox_8"/>
    <p:cNvSpPr txBox="1"/>
    <p:nvPr/>
  </p:nvSpPr>
  <p:spPr>
    <a:xfrm>
      <a:off x="800000" y="3950000"/>
      <a:ext cx="9500000" cy="10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500">
    <a:solidFill><a:srgbClr val="94A3B8"/></a:solidFill>
    <a:latin typeface="Arial"/>
  </a:rPr>
  <a:t>Demokratisasi pengalaman photobooth estetik ala Korea langsung dari browser ponsel — tanpa antre, tanpa unduh aplikasi, dan 100% aman bagi privasi pengguna.</a:t>
</a:r></a:p>
  </p:txBody>
</p:sp>
<p:sp>
  <p:nvSpPr>
    <p:cNvPr id="9" name="Shape_9"/>
    <p:cNvSpPr/>
    <p:nvPr/>
  </p:nvSpPr>
  <p:spPr>
    <a:xfrm>
      <a:off x="800000" y="5250000"/>
      <a:ext cx="10592000" cy="850000"/>
    </a:xfrm>
    <a:prstGeom prst="roundRect"><a:avLst/></a:prstGeom>
    <a:solidFill><a:srgbClr val="141620"/></a:solidFill>
    <a:ln w="12700"><a:solidFill><a:srgbClr val="242735"/></a:solidFill></a:ln>
  </p:spPr>
</p:sp>
<p:sp>
  <p:nvSpPr>
    <p:cNvPr id="10" name="TextBox_10"/>
    <p:cNvSpPr txBox="1"/>
    <p:nvPr/>
  </p:nvSpPr>
  <p:spPr>
    <a:xfrm>
      <a:off x="1100000" y="5450000"/>
      <a:ext cx="10000000" cy="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>
    <a:solidFill><a:srgbClr val="64748B"/></a:solidFill>
    <a:latin typeface="Arial"/>
  </a:rPr>
  <a:t>Founder &amp; Lead Developer: </a:t>
</a:r><a:r>
  <a:rPr lang="id-ID" sz="1200" b="1">
    <a:solidFill><a:srgbClr val="FFFFFF"/></a:solidFill>
    <a:latin typeface="Arial"/>
  </a:rPr>
  <a:t>Faris Izzi Asrori    |    </a:t>
</a:r><a:r>
  <a:rPr lang="id-ID" sz="1200">
    <a:solidFill><a:srgbClr val="64748B"/></a:solidFill>
    <a:latin typeface="Arial"/>
  </a:rPr>
  <a:t>Live App: </a:t>
</a:r><a:r>
  <a:rPr lang="id-ID" sz="1200" b="1">
    <a:solidFill><a:srgbClr val="8B5CF6"/></a:solidFill>
    <a:latin typeface="Arial"/>
  </a:rPr>
  <a:t>https://iziaphoto.web.app    |    </a:t>
</a:r><a:r>
  <a:rPr lang="id-ID" sz="1200">
    <a:solidFill><a:srgbClr val="64748B"/></a:solidFill>
    <a:latin typeface="Arial"/>
  </a:rPr>
  <a:t>Status: </a:t>
</a:r><a:r>
  <a:rPr lang="id-ID" sz="1200" b="1">
    <a:solidFill><a:srgbClr val="10B981"/></a:solidFill>
    <a:latin typeface="Arial"/>
  </a:rPr>
  <a:t>Live Production</a:t>
</a:r></a:p>
  </p:txBody>
</p:sp>
    </p:spTree>
  </p:cSld>
  <p:clrMapOvr><a:masterClrMapping/></p:clrMapOvr>
</p:sld>
</file>

<file path=ppt/slides/slide2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F43F5E"/></a:solidFill>
    <a:latin typeface="Arial"/>
  </a:rPr>
  <a:t>THE PROBLEM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Friksi Besar di Industri Photobooth Konvensional</a:t>
</a:r></a:p>
  </p:txBody>
</p:sp>
<p:sp>
  <p:nvSpPr>
    <p:cNvPr id="6" name="Shape_6"/>
    <p:cNvSpPr/>
    <p:nvPr/>
  </p:nvSpPr>
  <p:spPr>
    <a:xfrm>
      <a:off x="800000" y="2000000"/>
      <a:ext cx="2450000" cy="3900000"/>
    </a:xfrm>
    <a:prstGeom prst="roundRect"><a:avLst/></a:prstGeom>
    <a:solidFill><a:srgbClr val="18121A"/></a:solidFill>
    <a:ln w="15000"><a:solidFill><a:srgbClr val="331722"/></a:solidFill></a:ln>
  </p:spPr>
</p:sp>
<p:sp>
  <p:nvSpPr>
    <p:cNvPr id="7" name="TextBox_7"/>
    <p:cNvSpPr txBox="1"/>
    <p:nvPr/>
  </p:nvSpPr>
  <p:spPr>
    <a:xfrm>
      <a:off x="102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💸  </a:t>
</a:r><a:r>
  <a:rPr lang="id-ID" sz="1700" b="1">
    <a:solidFill><a:srgbClr val="FFFFFF"/></a:solidFill>
    <a:latin typeface="Arial"/>
  </a:rPr>
  <a:t>Biaya Mahal
</a:t>
</a:r><a:r>
  <a:rPr lang="id-ID" sz="1100" b="1">
    <a:solidFill><a:srgbClr val="8B5CF6"/></a:solidFill>
    <a:latin typeface="Arial"/>
  </a:rPr>
  <a:t>Rp 35k – 65k / Cetak

</a:t>
</a:r><a:r>
  <a:rPr lang="id-ID" sz="1100">
    <a:solidFill><a:srgbClr val="94A3B8"/></a:solidFill>
    <a:latin typeface="Arial"/>
  </a:rPr>
  <a:t>• Sekali foto menghabiskan uang jajan harian anak muda.
</a:t>
</a:r><a:r>
  <a:rPr lang="id-ID" sz="1100">
    <a:solidFill><a:srgbClr val="94A3B8"/></a:solidFill>
    <a:latin typeface="Arial"/>
  </a:rPr>
  <a:t>• Tidak fleksibel untuk foto spontan harian bareng bestie / ayang.
</a:t>
</a:r><a:r>
  <a:rPr lang="id-ID" sz="1100">
    <a:solidFill><a:srgbClr val="94A3B8"/></a:solidFill>
    <a:latin typeface="Arial"/>
  </a:rPr>
  <a:t>• Foto berulang kali membuat kantong boncos.
</a:t>
</a:r></a:p>
  </p:txBody>
</p:sp>
<p:sp>
  <p:nvSpPr>
    <p:cNvPr id="8" name="Shape_8"/>
    <p:cNvSpPr/>
    <p:nvPr/>
  </p:nvSpPr>
  <p:spPr>
    <a:xfrm>
      <a:off x="3510000" y="2000000"/>
      <a:ext cx="2450000" cy="3900000"/>
    </a:xfrm>
    <a:prstGeom prst="roundRect"><a:avLst/></a:prstGeom>
    <a:solidFill><a:srgbClr val="18121A"/></a:solidFill>
    <a:ln w="15000"><a:solidFill><a:srgbClr val="331722"/></a:solidFill></a:ln>
  </p:spPr>
</p:sp>
<p:sp>
  <p:nvSpPr>
    <p:cNvPr id="9" name="TextBox_9"/>
    <p:cNvSpPr txBox="1"/>
    <p:nvPr/>
  </p:nvSpPr>
  <p:spPr>
    <a:xfrm>
      <a:off x="373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⏳  </a:t>
</a:r><a:r>
  <a:rPr lang="id-ID" sz="1700" b="1">
    <a:solidFill><a:srgbClr val="FFFFFF"/></a:solidFill>
    <a:latin typeface="Arial"/>
  </a:rPr>
  <a:t>Antrean Fisik
</a:t>
</a:r><a:r>
  <a:rPr lang="id-ID" sz="1100" b="1">
    <a:solidFill><a:srgbClr val="8B5CF6"/></a:solidFill>
    <a:latin typeface="Arial"/>
  </a:rPr>
  <a:t>Hanya di Mall / Kafe

</a:t>
</a:r><a:r>
  <a:rPr lang="id-ID" sz="1100">
    <a:solidFill><a:srgbClr val="94A3B8"/></a:solidFill>
    <a:latin typeface="Arial"/>
  </a:rPr>
  <a:t>• Mesin photobooth fisik terbatas di mall kota besar.
</a:t>
</a:r><a:r>
  <a:rPr lang="id-ID" sz="1100">
    <a:solidFill><a:srgbClr val="94A3B8"/></a:solidFill>
    <a:latin typeface="Arial"/>
  </a:rPr>
  <a:t>• Waktu antre 30–60 menit pada akhir pekan.
</a:t>
</a:r><a:r>
  <a:rPr lang="id-ID" sz="1100">
    <a:solidFill><a:srgbClr val="94A3B8"/></a:solidFill>
    <a:latin typeface="Arial"/>
  </a:rPr>
  <a:t>• Momen keseruan spontan hilang di tengah antrean panjang.
</a:t>
</a:r></a:p>
  </p:txBody>
</p:sp>
<p:sp>
  <p:nvSpPr>
    <p:cNvPr id="10" name="Shape_10"/>
    <p:cNvSpPr/>
    <p:nvPr/>
  </p:nvSpPr>
  <p:spPr>
    <a:xfrm>
      <a:off x="6220000" y="2000000"/>
      <a:ext cx="2450000" cy="3900000"/>
    </a:xfrm>
    <a:prstGeom prst="roundRect"><a:avLst/></a:prstGeom>
    <a:solidFill><a:srgbClr val="18121A"/></a:solidFill>
    <a:ln w="15000"><a:solidFill><a:srgbClr val="331722"/></a:solidFill></a:ln>
  </p:spPr>
</p:sp>
<p:sp>
  <p:nvSpPr>
    <p:cNvPr id="11" name="TextBox_11"/>
    <p:cNvSpPr txBox="1"/>
    <p:nvPr/>
  </p:nvSpPr>
  <p:spPr>
    <a:xfrm>
      <a:off x="644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📲  </a:t>
</a:r><a:r>
  <a:rPr lang="id-ID" sz="1700" b="1">
    <a:solidFill><a:srgbClr val="FFFFFF"/></a:solidFill>
    <a:latin typeface="Arial"/>
  </a:rPr>
  <a:t>Friksi Unduh App
</a:t>
</a:r><a:r>
  <a:rPr lang="id-ID" sz="1100" b="1">
    <a:solidFill><a:srgbClr val="8B5CF6"/></a:solidFill>
    <a:latin typeface="Arial"/>
  </a:rPr>
  <a:t>Aplikasi Berat 100MB+

</a:t>
</a:r><a:r>
  <a:rPr lang="id-ID" sz="1100">
    <a:solidFill><a:srgbClr val="94A3B8"/></a:solidFill>
    <a:latin typeface="Arial"/>
  </a:rPr>
  <a:t>• Aplikasi kamera mobile wajib download di Play Store / App Store.
</a:t>
</a:r><a:r>
  <a:rPr lang="id-ID" sz="1100">
    <a:solidFill><a:srgbClr val="94A3B8"/></a:solidFill>
    <a:latin typeface="Arial"/>
  </a:rPr>
  <a:t>• Memori HP penuh menyebabkan user drop-off &gt;60%.
</a:t>
</a:r><a:r>
  <a:rPr lang="id-ID" sz="1100">
    <a:solidFill><a:srgbClr val="94A3B8"/></a:solidFill>
    <a:latin typeface="Arial"/>
  </a:rPr>
  <a:t>• Wajib registrasi akun &amp; verifikasi email yang ribet.
</a:t>
</a:r></a:p>
  </p:txBody>
</p:sp>
<p:sp>
  <p:nvSpPr>
    <p:cNvPr id="12" name="Shape_12"/>
    <p:cNvSpPr/>
    <p:nvPr/>
  </p:nvSpPr>
  <p:spPr>
    <a:xfrm>
      <a:off x="8930000" y="2000000"/>
      <a:ext cx="2450000" cy="3900000"/>
    </a:xfrm>
    <a:prstGeom prst="roundRect"><a:avLst/></a:prstGeom>
    <a:solidFill><a:srgbClr val="18121A"/></a:solidFill>
    <a:ln w="15000"><a:solidFill><a:srgbClr val="331722"/></a:solidFill></a:ln>
  </p:spPr>
</p:sp>
<p:sp>
  <p:nvSpPr>
    <p:cNvPr id="13" name="TextBox_13"/>
    <p:cNvSpPr txBox="1"/>
    <p:nvPr/>
  </p:nvSpPr>
  <p:spPr>
    <a:xfrm>
      <a:off x="915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🔒  </a:t>
</a:r><a:r>
  <a:rPr lang="id-ID" sz="1700" b="1">
    <a:solidFill><a:srgbClr val="FFFFFF"/></a:solidFill>
    <a:latin typeface="Arial"/>
  </a:rPr>
  <a:t>Isu Privasi Cloud
</a:t>
</a:r><a:r>
  <a:rPr lang="id-ID" sz="1100" b="1">
    <a:solidFill><a:srgbClr val="8B5CF6"/></a:solidFill>
    <a:latin typeface="Arial"/>
  </a:rPr>
  <a:t>Wajah Disimpan Server

</a:t>
</a:r><a:r>
  <a:rPr lang="id-ID" sz="1100">
    <a:solidFill><a:srgbClr val="94A3B8"/></a:solidFill>
    <a:latin typeface="Arial"/>
  </a:rPr>
  <a:t>• Aplikasi foto mengunggah wajah ke server pihak ketiga.
</a:t>
</a:r><a:r>
  <a:rPr lang="id-ID" sz="1100">
    <a:solidFill><a:srgbClr val="94A3B8"/></a:solidFill>
    <a:latin typeface="Arial"/>
  </a:rPr>
  <a:t>• Risiko kebocoran data pribadi dan scraping model AI.
</a:t>
</a:r><a:r>
  <a:rPr lang="id-ID" sz="1100">
    <a:solidFill><a:srgbClr val="94A3B8"/></a:solidFill>
    <a:latin typeface="Arial"/>
  </a:rPr>
  <a:t>• Konsumen Gen-Z semakin sadar akan hak privasi digital.
</a:t>
</a:r></a:p>
  </p:txBody>
</p:sp>
    </p:spTree>
  </p:cSld>
  <p:clrMapOvr><a:masterClrMapping/></p:clrMapOvr>
</p:sld>
</file>

<file path=ppt/slides/slide3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10B981"/></a:solidFill>
    <a:latin typeface="Arial"/>
  </a:rPr>
  <a:t>THE SOLUTION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IziaPhoto: Studio Photobooth Instan di Browser</a:t>
</a:r></a:p>
  </p:txBody>
</p:sp>
<p:sp>
  <p:nvSpPr>
    <p:cNvPr id="6" name="Shape_6"/>
    <p:cNvSpPr/>
    <p:nvPr/>
  </p:nvSpPr>
  <p:spPr>
    <a:xfrm>
      <a:off x="800000" y="2000000"/>
      <a:ext cx="2450000" cy="3900000"/>
    </a:xfrm>
    <a:prstGeom prst="roundRect"><a:avLst/></a:prstGeom>
    <a:solidFill><a:srgbClr val="111D19"/></a:solidFill>
    <a:ln w="15000"><a:solidFill><a:srgbClr val="1B332A"/></a:solidFill></a:ln>
  </p:spPr>
</p:sp>
<p:sp>
  <p:nvSpPr>
    <p:cNvPr id="7" name="TextBox_7"/>
    <p:cNvSpPr txBox="1"/>
    <p:nvPr/>
  </p:nvSpPr>
  <p:spPr>
    <a:xfrm>
      <a:off x="102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⚡  </a:t>
</a:r><a:r>
  <a:rPr lang="id-ID" sz="1700" b="1">
    <a:solidFill><a:srgbClr val="FFFFFF"/></a:solidFill>
    <a:latin typeface="Arial"/>
  </a:rPr>
  <a:t>Zero App Install
</a:t>
</a:r><a:r>
  <a:rPr lang="id-ID" sz="1100" b="1">
    <a:solidFill><a:srgbClr val="8B5CF6"/></a:solidFill>
    <a:latin typeface="Arial"/>
  </a:rPr>
  <a:t>0 MB • Langsung dari Web

</a:t>
</a:r><a:r>
  <a:rPr lang="id-ID" sz="1100">
    <a:solidFill><a:srgbClr val="94A3B8"/></a:solidFill>
    <a:latin typeface="Arial"/>
  </a:rPr>
  <a:t>• Cukup buka satu link URL dari Safari atau Chrome.
</a:t>
</a:r><a:r>
  <a:rPr lang="id-ID" sz="1100">
    <a:solidFill><a:srgbClr val="94A3B8"/></a:solidFill>
    <a:latin typeface="Arial"/>
  </a:rPr>
  <a:t>• Langsung siap berfoto dalam waktu kurang dari 3 detik.
</a:t>
</a:r><a:r>
  <a:rPr lang="id-ID" sz="1100">
    <a:solidFill><a:srgbClr val="94A3B8"/></a:solidFill>
    <a:latin typeface="Arial"/>
  </a:rPr>
  <a:t>• Kompatibel sempurna di semua HP Android, iOS, &amp; Desktop.
</a:t>
</a:r></a:p>
  </p:txBody>
</p:sp>
<p:sp>
  <p:nvSpPr>
    <p:cNvPr id="8" name="Shape_8"/>
    <p:cNvSpPr/>
    <p:nvPr/>
  </p:nvSpPr>
  <p:spPr>
    <a:xfrm>
      <a:off x="3510000" y="2000000"/>
      <a:ext cx="2450000" cy="3900000"/>
    </a:xfrm>
    <a:prstGeom prst="roundRect"><a:avLst/></a:prstGeom>
    <a:solidFill><a:srgbClr val="111D19"/></a:solidFill>
    <a:ln w="15000"><a:solidFill><a:srgbClr val="1B332A"/></a:solidFill></a:ln>
  </p:spPr>
</p:sp>
<p:sp>
  <p:nvSpPr>
    <p:cNvPr id="9" name="TextBox_9"/>
    <p:cNvSpPr txBox="1"/>
    <p:nvPr/>
  </p:nvSpPr>
  <p:spPr>
    <a:xfrm>
      <a:off x="373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🎞️  </a:t>
</a:r><a:r>
  <a:rPr lang="id-ID" sz="1700" b="1">
    <a:solidFill><a:srgbClr val="FFFFFF"/></a:solidFill>
    <a:latin typeface="Arial"/>
  </a:rPr>
  <a:t>22+ Template Viral
</a:t>
</a:r><a:r>
  <a:rPr lang="id-ID" sz="1100" b="1">
    <a:solidFill><a:srgbClr val="8B5CF6"/></a:solidFill>
    <a:latin typeface="Arial"/>
  </a:rPr>
  <a:t>Korean 4-Cut &amp; 4R Print

</a:t>
</a:r><a:r>
  <a:rPr lang="id-ID" sz="1100">
    <a:solidFill><a:srgbClr val="94A3B8"/></a:solidFill>
    <a:latin typeface="Arial"/>
  </a:rPr>
  <a:t>• Format strip memanjang Korean 4-Cut yang super hits.
</a:t>
</a:r><a:r>
  <a:rPr lang="id-ID" sz="1100">
    <a:solidFill><a:srgbClr val="94A3B8"/></a:solidFill>
    <a:latin typeface="Arial"/>
  </a:rPr>
  <a:t>• Format kartu cetak 4R (Grid 2x2, Split, Single Shot).
</a:t>
</a:r><a:r>
  <a:rPr lang="id-ID" sz="1100">
    <a:solidFill><a:srgbClr val="94A3B8"/></a:solidFill>
    <a:latin typeface="Arial"/>
  </a:rPr>
  <a:t>• Koran Jadul retro, Struk Cafe, &amp; klise film 35mm.
</a:t>
</a:r></a:p>
  </p:txBody>
</p:sp>
<p:sp>
  <p:nvSpPr>
    <p:cNvPr id="10" name="Shape_10"/>
    <p:cNvSpPr/>
    <p:nvPr/>
  </p:nvSpPr>
  <p:spPr>
    <a:xfrm>
      <a:off x="6220000" y="2000000"/>
      <a:ext cx="2450000" cy="3900000"/>
    </a:xfrm>
    <a:prstGeom prst="roundRect"><a:avLst/></a:prstGeom>
    <a:solidFill><a:srgbClr val="111D19"/></a:solidFill>
    <a:ln w="15000"><a:solidFill><a:srgbClr val="1B332A"/></a:solidFill></a:ln>
  </p:spPr>
</p:sp>
<p:sp>
  <p:nvSpPr>
    <p:cNvPr id="11" name="TextBox_11"/>
    <p:cNvSpPr txBox="1"/>
    <p:nvPr/>
  </p:nvSpPr>
  <p:spPr>
    <a:xfrm>
      <a:off x="644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🎨  </a:t>
</a:r><a:r>
  <a:rPr lang="id-ID" sz="1700" b="1">
    <a:solidFill><a:srgbClr val="FFFFFF"/></a:solidFill>
    <a:latin typeface="Arial"/>
  </a:rPr>
  <a:t>Custom Frame Builder
</a:t>
</a:r><a:r>
  <a:rPr lang="id-ID" sz="1100" b="1">
    <a:solidFill><a:srgbClr val="8B5CF6"/></a:solidFill>
    <a:latin typeface="Arial"/>
  </a:rPr>
  <a:t>In-App Editor Penuh

</a:t>
</a:r><a:r>
  <a:rPr lang="id-ID" sz="1100">
    <a:solidFill><a:srgbClr val="94A3B8"/></a:solidFill>
    <a:latin typeface="Arial"/>
  </a:rPr>
  <a:t>• Pilih warna background bebas (Hex color picker).
</a:t>
</a:r><a:r>
  <a:rPr lang="id-ID" sz="1100">
    <a:solidFill><a:srgbClr val="94A3B8"/></a:solidFill>
    <a:latin typeface="Arial"/>
  </a:rPr>
  <a:t>• Ganti motif bingkai: Polos, Checkerboard, &amp; Garis ganda.
</a:t>
</a:r><a:r>
  <a:rPr lang="id-ID" sz="1100">
    <a:solidFill><a:srgbClr val="94A3B8"/></a:solidFill>
    <a:latin typeface="Arial"/>
  </a:rPr>
  <a:t>• Kustom teks judul event, tanggal, dan stempel stiker.
</a:t>
</a:r></a:p>
  </p:txBody>
</p:sp>
<p:sp>
  <p:nvSpPr>
    <p:cNvPr id="12" name="Shape_12"/>
    <p:cNvSpPr/>
    <p:nvPr/>
  </p:nvSpPr>
  <p:spPr>
    <a:xfrm>
      <a:off x="8930000" y="2000000"/>
      <a:ext cx="2450000" cy="3900000"/>
    </a:xfrm>
    <a:prstGeom prst="roundRect"><a:avLst/></a:prstGeom>
    <a:solidFill><a:srgbClr val="111D19"/></a:solidFill>
    <a:ln w="15000"><a:solidFill><a:srgbClr val="1B332A"/></a:solidFill></a:ln>
  </p:spPr>
</p:sp>
<p:sp>
  <p:nvSpPr>
    <p:cNvPr id="13" name="TextBox_13"/>
    <p:cNvSpPr txBox="1"/>
    <p:nvPr/>
  </p:nvSpPr>
  <p:spPr>
    <a:xfrm>
      <a:off x="915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🛡️  </a:t>
</a:r><a:r>
  <a:rPr lang="id-ID" sz="1700" b="1">
    <a:solidFill><a:srgbClr val="FFFFFF"/></a:solidFill>
    <a:latin typeface="Arial"/>
  </a:rPr>
  <a:t>100% Client-Side Safe
</a:t>
</a:r><a:r>
  <a:rPr lang="id-ID" sz="1100" b="1">
    <a:solidFill><a:srgbClr val="8B5CF6"/></a:solidFill>
    <a:latin typeface="Arial"/>
  </a:rPr>
  <a:t>Foto Milik User Sepenuhnya

</a:t>
</a:r><a:r>
  <a:rPr lang="id-ID" sz="1100">
    <a:solidFill><a:srgbClr val="94A3B8"/></a:solidFill>
    <a:latin typeface="Arial"/>
  </a:rPr>
  <a:t>• Pemrosesan kamera &amp; render frame berjalan di HP user.
</a:t>
</a:r><a:r>
  <a:rPr lang="id-ID" sz="1100">
    <a:solidFill><a:srgbClr val="94A3B8"/></a:solidFill>
    <a:latin typeface="Arial"/>
  </a:rPr>
  <a:t>• Tidak ada foto yang diunggah ke cloud atau database server.
</a:t>
</a:r><a:r>
  <a:rPr lang="id-ID" sz="1100">
    <a:solidFill><a:srgbClr val="94A3B8"/></a:solidFill>
    <a:latin typeface="Arial"/>
  </a:rPr>
  <a:t>• Privasi pengguna terjamin 100% tanpa kompromi.
</a:t>
</a:r></a:p>
  </p:txBody>
</p:sp>
    </p:spTree>
  </p:cSld>
  <p:clrMapOvr><a:masterClrMapping/></p:clrMapOvr>
</p:sld>
</file>

<file path=ppt/slides/slide4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F43F5E"/></a:solidFill>
    <a:latin typeface="Arial"/>
  </a:rPr>
  <a:t>PRODUCT CAPABILITIES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Fitur Intuitif Dirancang untuk Pengalaman Gen-Z</a:t>
</a:r></a:p>
  </p:txBody>
</p:sp>
<p:sp>
  <p:nvSpPr>
    <p:cNvPr id="6" name="Shape_6"/>
    <p:cNvSpPr/>
    <p:nvPr/>
  </p:nvSpPr>
  <p:spPr>
    <a:xfrm>
      <a:off x="800000" y="2000000"/>
      <a:ext cx="5150000" cy="1850000"/>
    </a:xfrm>
    <a:prstGeom prst="roundRect"><a:avLst/></a:prstGeom>
    <a:solidFill><a:srgbClr val="141620"/></a:solidFill>
    <a:ln w="15000"><a:solidFill><a:srgbClr val="2A2D3A"/></a:solidFill></a:ln>
  </p:spPr>
</p:sp>
<p:sp>
  <p:nvSpPr>
    <p:cNvPr id="7" name="TextBox_7"/>
    <p:cNvSpPr txBox="1"/>
    <p:nvPr/>
  </p:nvSpPr>
  <p:spPr>
    <a:xfrm>
      <a:off x="1020000" y="2200000"/>
      <a:ext cx="4710000" cy="1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⏱️  </a:t>
</a:r><a:r>
  <a:rPr lang="id-ID" sz="1700" b="1">
    <a:solidFill><a:srgbClr val="FFFFFF"/></a:solidFill>
    <a:latin typeface="Arial"/>
  </a:rPr>
  <a:t>Smart Shutter &amp; Audio Feedback
</a:t>
</a:r><a:r>
  <a:rPr lang="id-ID" sz="1100" b="1">
    <a:solidFill><a:srgbClr val="8B5CF6"/></a:solidFill>
    <a:latin typeface="Arial"/>
  </a:rPr>
  <a:t>Hitungan Mundur 3-2-1 Nyata

</a:t>
</a:r><a:r>
  <a:rPr lang="id-ID" sz="1100">
    <a:solidFill><a:srgbClr val="94A3B8"/></a:solidFill>
    <a:latin typeface="Arial"/>
  </a:rPr>
  <a:t>• Dilengkapi countdown visual, audio beep sintetis tanpa aset berat.
</a:t>
</a:r><a:r>
  <a:rPr lang="id-ID" sz="1100">
    <a:solidFill><a:srgbClr val="94A3B8"/></a:solidFill>
    <a:latin typeface="Arial"/>
  </a:rPr>
  <a:t>• Flash screen visual mensimulasikan studio foto profesional.
</a:t>
</a:r><a:r>
  <a:rPr lang="id-ID" sz="1100">
    <a:solidFill><a:srgbClr val="94A3B8"/></a:solidFill>
    <a:latin typeface="Arial"/>
  </a:rPr>
  <a:t>• Jeda 2 detik antar pose memberi waktu user berganti gaya.
</a:t>
</a:r></a:p>
  </p:txBody>
</p:sp>
<p:sp>
  <p:nvSpPr>
    <p:cNvPr id="8" name="Shape_8"/>
    <p:cNvSpPr/>
    <p:nvPr/>
  </p:nvSpPr>
  <p:spPr>
    <a:xfrm>
      <a:off x="6242000" y="2000000"/>
      <a:ext cx="5150000" cy="1850000"/>
    </a:xfrm>
    <a:prstGeom prst="roundRect"><a:avLst/></a:prstGeom>
    <a:solidFill><a:srgbClr val="141620"/></a:solidFill>
    <a:ln w="15000"><a:solidFill><a:srgbClr val="2A2D3A"/></a:solidFill></a:ln>
  </p:spPr>
</p:sp>
<p:sp>
  <p:nvSpPr>
    <p:cNvPr id="9" name="TextBox_9"/>
    <p:cNvSpPr txBox="1"/>
    <p:nvPr/>
  </p:nvSpPr>
  <p:spPr>
    <a:xfrm>
      <a:off x="6462000" y="2200000"/>
      <a:ext cx="4710000" cy="1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🎯  </a:t>
</a:r><a:r>
  <a:rPr lang="id-ID" sz="1700" b="1">
    <a:solidFill><a:srgbClr val="FFFFFF"/></a:solidFill>
    <a:latin typeface="Arial"/>
  </a:rPr>
  <a:t>Dynamic Contrast Engine
</a:t>
</a:r><a:r>
  <a:rPr lang="id-ID" sz="1100" b="1">
    <a:solidFill><a:srgbClr val="8B5CF6"/></a:solidFill>
    <a:latin typeface="Arial"/>
  </a:rPr>
  <a:t>Deteksi Kecerahan Background Otomatis

</a:t>
</a:r><a:r>
  <a:rPr lang="id-ID" sz="1100">
    <a:solidFill><a:srgbClr val="94A3B8"/></a:solidFill>
    <a:latin typeface="Arial"/>
  </a:rPr>
  <a:t>• Teks branding &amp; tanggal otomatis berubah hitam di frame terang.
</a:t>
</a:r><a:r>
  <a:rPr lang="id-ID" sz="1100">
    <a:solidFill><a:srgbClr val="94A3B8"/></a:solidFill>
    <a:latin typeface="Arial"/>
  </a:rPr>
  <a:t>• Otomatis berubah putih bersih saat user memilih frame gelap.
</a:t>
</a:r><a:r>
  <a:rPr lang="id-ID" sz="1100">
    <a:solidFill><a:srgbClr val="94A3B8"/></a:solidFill>
    <a:latin typeface="Arial"/>
  </a:rPr>
  <a:t>• Keterbacaan teks dijamin 100% pada palet warna apa pun.
</a:t>
</a:r></a:p>
  </p:txBody>
</p:sp>
<p:sp>
  <p:nvSpPr>
    <p:cNvPr id="10" name="Shape_10"/>
    <p:cNvSpPr/>
    <p:nvPr/>
  </p:nvSpPr>
  <p:spPr>
    <a:xfrm>
      <a:off x="800000" y="4050000"/>
      <a:ext cx="5150000" cy="1850000"/>
    </a:xfrm>
    <a:prstGeom prst="roundRect"><a:avLst/></a:prstGeom>
    <a:solidFill><a:srgbClr val="141620"/></a:solidFill>
    <a:ln w="15000"><a:solidFill><a:srgbClr val="2A2D3A"/></a:solidFill></a:ln>
  </p:spPr>
</p:sp>
<p:sp>
  <p:nvSpPr>
    <p:cNvPr id="11" name="TextBox_11"/>
    <p:cNvSpPr txBox="1"/>
    <p:nvPr/>
  </p:nvSpPr>
  <p:spPr>
    <a:xfrm>
      <a:off x="1020000" y="4250000"/>
      <a:ext cx="4710000" cy="1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🔄  </a:t>
</a:r><a:r>
  <a:rPr lang="id-ID" sz="1700" b="1">
    <a:solidFill><a:srgbClr val="FFFFFF"/></a:solidFill>
    <a:latin typeface="Arial"/>
  </a:rPr>
  <a:t>Single-Slot Retake
</a:t>
</a:r><a:r>
  <a:rPr lang="id-ID" sz="1100" b="1">
    <a:solidFill><a:srgbClr val="8B5CF6"/></a:solidFill>
    <a:latin typeface="Arial"/>
  </a:rPr>
  <a:t>Ulang Foto Tanpa Reset Sesi

</a:t>
</a:r><a:r>
  <a:rPr lang="id-ID" sz="1100">
    <a:solidFill><a:srgbClr val="94A3B8"/></a:solidFill>
    <a:latin typeface="Arial"/>
  </a:rPr>
  <a:t>• Pose kurang bagus di slot nomor 2? Cukup klik tombol retake.
</a:t>
</a:r><a:r>
  <a:rPr lang="id-ID" sz="1100">
    <a:solidFill><a:srgbClr val="94A3B8"/></a:solidFill>
    <a:latin typeface="Arial"/>
  </a:rPr>
  <a:t>• Kamera aktif khusus menggantikan slot tersebut saja.
</a:t>
</a:r><a:r>
  <a:rPr lang="id-ID" sz="1100">
    <a:solidFill><a:srgbClr val="94A3B8"/></a:solidFill>
    <a:latin typeface="Arial"/>
  </a:rPr>
  <a:t>• Slot foto lain tetap aman tersimpan tanpa perlu foto ulang.
</a:t>
</a:r></a:p>
  </p:txBody>
</p:sp>
<p:sp>
  <p:nvSpPr>
    <p:cNvPr id="12" name="Shape_12"/>
    <p:cNvSpPr/>
    <p:nvPr/>
  </p:nvSpPr>
  <p:spPr>
    <a:xfrm>
      <a:off x="6242000" y="4050000"/>
      <a:ext cx="5150000" cy="1850000"/>
    </a:xfrm>
    <a:prstGeom prst="roundRect"><a:avLst/></a:prstGeom>
    <a:solidFill><a:srgbClr val="141620"/></a:solidFill>
    <a:ln w="15000"><a:solidFill><a:srgbClr val="2A2D3A"/></a:solidFill></a:ln>
  </p:spPr>
</p:sp>
<p:sp>
  <p:nvSpPr>
    <p:cNvPr id="13" name="TextBox_13"/>
    <p:cNvSpPr txBox="1"/>
    <p:nvPr/>
  </p:nvSpPr>
  <p:spPr>
    <a:xfrm>
      <a:off x="6462000" y="4250000"/>
      <a:ext cx="4710000" cy="1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🖨️  </a:t>
</a:r><a:r>
  <a:rPr lang="id-ID" sz="1700" b="1">
    <a:solidFill><a:srgbClr val="FFFFFF"/></a:solidFill>
    <a:latin typeface="Arial"/>
  </a:rPr>
  <a:t>High-Resolution Canvas Export
</a:t>
</a:r><a:r>
  <a:rPr lang="id-ID" sz="1100" b="1">
    <a:solidFill><a:srgbClr val="8B5CF6"/></a:solidFill>
    <a:latin typeface="Arial"/>
  </a:rPr>
  <a:t>Standar Siap Cetak Fisik &amp; Digital

</a:t>
</a:r><a:r>
  <a:rPr lang="id-ID" sz="1100">
    <a:solidFill><a:srgbClr val="94A3B8"/></a:solidFill>
    <a:latin typeface="Arial"/>
  </a:rPr>
  <a:t>• Output Canvas 1200x1800+ px dengan DPI tinggi siap cetak foto.
</a:t>
</a:r><a:r>
  <a:rPr lang="id-ID" sz="1100">
    <a:solidFill><a:srgbClr val="94A3B8"/></a:solidFill>
    <a:latin typeface="Arial"/>
  </a:rPr>
  <a:t>• Format rasio pas untuk Instagram Story dan konten TikTok.
</a:t>
</a:r><a:r>
  <a:rPr lang="id-ID" sz="1100">
    <a:solidFill><a:srgbClr val="94A3B8"/></a:solidFill>
    <a:latin typeface="Arial"/>
  </a:rPr>
  <a:t>• Opsi unduh instan format PNG lossless langsung ke galeri HP.
</a:t>
</a:r></a:p>
  </p:txBody>
</p:sp>
    </p:spTree>
  </p:cSld>
  <p:clrMapOvr><a:masterClrMapping/></p:clrMapOvr>
</p:sld>
</file>

<file path=ppt/slides/slide5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8B5CF6"/></a:solidFill>
    <a:latin typeface="Arial"/>
  </a:rPr>
  <a:t>TECHNOLOGY ADVANTAGE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Arsitektur Client-Side: Server Cost Rp 0 &amp; Skala Tak Terbatas</a:t>
</a:r></a:p>
  </p:txBody>
</p:sp>
<p:sp>
  <p:nvSpPr>
    <p:cNvPr id="6" name="Shape_6"/>
    <p:cNvSpPr/>
    <p:nvPr/>
  </p:nvSpPr>
  <p:spPr>
    <a:xfrm>
      <a:off x="800000" y="1950000"/>
      <a:ext cx="5150000" cy="4000000"/>
    </a:xfrm>
    <a:prstGeom prst="roundRect"><a:avLst/></a:prstGeom>
    <a:solidFill><a:srgbClr val="1A1015"/></a:solidFill>
    <a:ln w="15000"><a:solidFill><a:srgbClr val="3D1A24"/></a:solidFill></a:ln>
  </p:spPr>
</p:sp>
<p:sp>
  <p:nvSpPr>
    <p:cNvPr id="7" name="TextBox_7"/>
    <p:cNvSpPr txBox="1"/>
    <p:nvPr/>
  </p:nvSpPr>
  <p:spPr>
    <a:xfrm>
      <a:off x="1020000" y="2150000"/>
      <a:ext cx="47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❌  </a:t>
</a:r><a:r>
  <a:rPr lang="id-ID" sz="1700" b="1">
    <a:solidFill><a:srgbClr val="FFFFFF"/></a:solidFill>
    <a:latin typeface="Arial"/>
  </a:rPr>
  <a:t>Arsitektur Photobooth Konvensional
</a:t>
</a:r><a:r>
  <a:rPr lang="id-ID" sz="1100" b="1">
    <a:solidFill><a:srgbClr val="8B5CF6"/></a:solidFill>
    <a:latin typeface="Arial"/>
  </a:rPr>
  <a:t>Boros Server &amp; Rawan Down

</a:t>
</a:r><a:r>
  <a:rPr lang="id-ID" sz="1100">
    <a:solidFill><a:srgbClr val="94A3B8"/></a:solidFill>
    <a:latin typeface="Arial"/>
  </a:rPr>
  <a:t>• Setiap jepretan foto diunggah ke server cloud (10MB - 30MB).
</a:t>
</a:r><a:r>
  <a:rPr lang="id-ID" sz="1100">
    <a:solidFill><a:srgbClr val="94A3B8"/></a:solidFill>
    <a:latin typeface="Arial"/>
  </a:rPr>
  <a:t>• Server GPU memproses filter &amp; menumpuk frame (biaya server tinggi).
</a:t>
</a:r><a:r>
  <a:rPr lang="id-ID" sz="1100">
    <a:solidFill><a:srgbClr val="94A3B8"/></a:solidFill>
    <a:latin typeface="Arial"/>
  </a:rPr>
  <a:t>• Penyimpanan database S3 berbayar untuk setiap pengguna.
</a:t>
</a:r><a:r>
  <a:rPr lang="id-ID" sz="1100">
    <a:solidFill><a:srgbClr val="94A3B8"/></a:solidFill>
    <a:latin typeface="Arial"/>
  </a:rPr>
  <a:t>• Biaya bandwidth raksasa seiring pertambahan pengguna.
</a:t>
</a:r><a:r>
  <a:rPr lang="id-ID" sz="1100">
    <a:solidFill><a:srgbClr val="94A3B8"/></a:solidFill>
    <a:latin typeface="Arial"/>
  </a:rPr>
  <a:t>• Server rentan down ketika ada lonjakan viral traffic.
</a:t>
</a:r></a:p>
  </p:txBody>
</p:sp>
<p:sp>
  <p:nvSpPr>
    <p:cNvPr id="8" name="Shape_8"/>
    <p:cNvSpPr/>
    <p:nvPr/>
  </p:nvSpPr>
  <p:spPr>
    <a:xfrm>
      <a:off x="6242000" y="1950000"/>
      <a:ext cx="5150000" cy="4000000"/>
    </a:xfrm>
    <a:prstGeom prst="roundRect"><a:avLst/></a:prstGeom>
    <a:solidFill><a:srgbClr val="101F1A"/></a:solidFill>
    <a:ln w="15000"><a:solidFill><a:srgbClr val="1E3A2F"/></a:solidFill></a:ln>
  </p:spPr>
</p:sp>
<p:sp>
  <p:nvSpPr>
    <p:cNvPr id="9" name="TextBox_9"/>
    <p:cNvSpPr txBox="1"/>
    <p:nvPr/>
  </p:nvSpPr>
  <p:spPr>
    <a:xfrm>
      <a:off x="6462000" y="2150000"/>
      <a:ext cx="47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🌟  </a:t>
</a:r><a:r>
  <a:rPr lang="id-ID" sz="1700" b="1">
    <a:solidFill><a:srgbClr val="FFFFFF"/></a:solidFill>
    <a:latin typeface="Arial"/>
  </a:rPr>
  <a:t>Arsitektur IziaPhoto (Client-Side First)
</a:t>
</a:r><a:r>
  <a:rPr lang="id-ID" sz="1100" b="1">
    <a:solidFill><a:srgbClr val="8B5CF6"/></a:solidFill>
    <a:latin typeface="Arial"/>
  </a:rPr>
  <a:t>Margin Tinggi &amp; Kecepatan Cahaya

</a:t>
</a:r><a:r>
  <a:rPr lang="id-ID" sz="1100">
    <a:solidFill><a:srgbClr val="94A3B8"/></a:solidFill>
    <a:latin typeface="Arial"/>
  </a:rPr>
  <a:t>• Stream video diakses lokal via browser MediaDevices API.
</a:t>
</a:r><a:r>
  <a:rPr lang="id-ID" sz="1100">
    <a:solidFill><a:srgbClr val="94A3B8"/></a:solidFill>
    <a:latin typeface="Arial"/>
  </a:rPr>
  <a:t>• Komposit gambar &amp; render filter dieksekusi oleh HTML5 Canvas GPU lokal.
</a:t>
</a:r><a:r>
  <a:rPr lang="id-ID" sz="1100">
    <a:solidFill><a:srgbClr val="94A3B8"/></a:solidFill>
    <a:latin typeface="Arial"/>
  </a:rPr>
  <a:t>• Biaya server foto: Rp 0 (Hanya butuh static hosting ringan CDN).
</a:t>
</a:r><a:r>
  <a:rPr lang="id-ID" sz="1100">
    <a:solidFill><a:srgbClr val="94A3B8"/></a:solidFill>
    <a:latin typeface="Arial"/>
  </a:rPr>
  <a:t>• Infinite Scalability: 10.000 atau 1.000.000 user aktif tidak membebani server.
</a:t>
</a:r><a:r>
  <a:rPr lang="id-ID" sz="1100">
    <a:solidFill><a:srgbClr val="94A3B8"/></a:solidFill>
    <a:latin typeface="Arial"/>
  </a:rPr>
  <a:t>• Zero Latency: Hasil render selesai seketika tanpa jeda upload.
</a:t>
</a:r></a:p>
  </p:txBody>
</p:sp>
    </p:spTree>
  </p:cSld>
  <p:clrMapOvr><a:masterClrMapping/></p:clrMapOvr>
</p:sld>
</file>

<file path=ppt/slides/slide6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F43F5E"/></a:solidFill>
    <a:latin typeface="Arial"/>
  </a:rPr>
  <a:t>MARKET OPPORTUNITY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Potensi Pasar Fotografi Digital &amp; Event Entertainment</a:t>
</a:r></a:p>
  </p:txBody>
</p:sp>
<p:sp>
  <p:nvSpPr>
    <p:cNvPr id="6" name="Shape_6"/>
    <p:cNvSpPr/>
    <p:nvPr/>
  </p:nvSpPr>
  <p:spPr>
    <a:xfrm>
      <a:off x="800000" y="1950000"/>
      <a:ext cx="3350000" cy="2000000"/>
    </a:xfrm>
    <a:prstGeom prst="roundRect"><a:avLst/></a:prstGeom>
    <a:solidFill><a:srgbClr val="141620"/></a:solidFill>
    <a:ln w="15000"><a:solidFill><a:srgbClr val="2A2D3A"/></a:solidFill></a:ln>
  </p:spPr>
</p:sp>
<p:sp>
  <p:nvSpPr>
    <p:cNvPr id="7" name="TextBox_7"/>
    <p:cNvSpPr txBox="1"/>
    <p:nvPr/>
  </p:nvSpPr>
  <p:spPr>
    <a:xfrm>
      <a:off x="1020000" y="2150000"/>
      <a:ext cx="2910000" cy="1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🌐  </a:t>
</a:r><a:r>
  <a:rPr lang="id-ID" sz="1700" b="1">
    <a:solidFill><a:srgbClr val="FFFFFF"/></a:solidFill>
    <a:latin typeface="Arial"/>
  </a:rPr>
  <a:t>TAM: $18.2 Miliar
</a:t>
</a:r><a:r>
  <a:rPr lang="id-ID" sz="1100" b="1">
    <a:solidFill><a:srgbClr val="8B5CF6"/></a:solidFill>
    <a:latin typeface="Arial"/>
  </a:rPr>
  <a:t>Total Addressable Market

</a:t>
</a:r><a:r>
  <a:rPr lang="id-ID" sz="1100">
    <a:solidFill><a:srgbClr val="94A3B8"/></a:solidFill>
    <a:latin typeface="Arial"/>
  </a:rPr>
  <a:t>• Pasar Mobile Photography &amp; Event Technology global diproyeksikan tumbuh 11.4% CAGR.
</a:t>
</a:r></a:p>
  </p:txBody>
</p:sp>
<p:sp>
  <p:nvSpPr>
    <p:cNvPr id="8" name="Shape_8"/>
    <p:cNvSpPr/>
    <p:nvPr/>
  </p:nvSpPr>
  <p:spPr>
    <a:xfrm>
      <a:off x="4421000" y="1950000"/>
      <a:ext cx="3350000" cy="2000000"/>
    </a:xfrm>
    <a:prstGeom prst="roundRect"><a:avLst/></a:prstGeom>
    <a:solidFill><a:srgbClr val="141620"/></a:solidFill>
    <a:ln w="15000"><a:solidFill><a:srgbClr val="2A2D3A"/></a:solidFill></a:ln>
  </p:spPr>
</p:sp>
<p:sp>
  <p:nvSpPr>
    <p:cNvPr id="9" name="TextBox_9"/>
    <p:cNvSpPr txBox="1"/>
    <p:nvPr/>
  </p:nvSpPr>
  <p:spPr>
    <a:xfrm>
      <a:off x="4641000" y="2150000"/>
      <a:ext cx="2910000" cy="1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🎯  </a:t>
</a:r><a:r>
  <a:rPr lang="id-ID" sz="1700" b="1">
    <a:solidFill><a:srgbClr val="FFFFFF"/></a:solidFill>
    <a:latin typeface="Arial"/>
  </a:rPr>
  <a:t>SAM: $1.4 Miliar
</a:t>
</a:r><a:r>
  <a:rPr lang="id-ID" sz="1100" b="1">
    <a:solidFill><a:srgbClr val="8B5CF6"/></a:solidFill>
    <a:latin typeface="Arial"/>
  </a:rPr>
  <a:t>Serviceable Addressable Market

</a:t>
</a:r><a:r>
  <a:rPr lang="id-ID" sz="1100">
    <a:solidFill><a:srgbClr val="94A3B8"/></a:solidFill>
    <a:latin typeface="Arial"/>
  </a:rPr>
  <a:t>• Populasi Gen-Z &amp; pasar hiburan event di Asia Tenggara (Indonesia, Malaysia, Filipina, Vietnam).
</a:t>
</a:r></a:p>
  </p:txBody>
</p:sp>
<p:sp>
  <p:nvSpPr>
    <p:cNvPr id="10" name="Shape_10"/>
    <p:cNvSpPr/>
    <p:nvPr/>
  </p:nvSpPr>
  <p:spPr>
    <a:xfrm>
      <a:off x="8042000" y="1950000"/>
      <a:ext cx="3350000" cy="2000000"/>
    </a:xfrm>
    <a:prstGeom prst="roundRect"><a:avLst/></a:prstGeom>
    <a:solidFill><a:srgbClr val="141620"/></a:solidFill>
    <a:ln w="15000"><a:solidFill><a:srgbClr val="2A2D3A"/></a:solidFill></a:ln>
  </p:spPr>
</p:sp>
<p:sp>
  <p:nvSpPr>
    <p:cNvPr id="11" name="TextBox_11"/>
    <p:cNvSpPr txBox="1"/>
    <p:nvPr/>
  </p:nvSpPr>
  <p:spPr>
    <a:xfrm>
      <a:off x="8262000" y="2150000"/>
      <a:ext cx="2910000" cy="1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🇮🇩  </a:t>
</a:r><a:r>
  <a:rPr lang="id-ID" sz="1700" b="1">
    <a:solidFill><a:srgbClr val="FFFFFF"/></a:solidFill>
    <a:latin typeface="Arial"/>
  </a:rPr>
  <a:t>SOM: $45 Juta
</a:t>
</a:r><a:r>
  <a:rPr lang="id-ID" sz="1100" b="1">
    <a:solidFill><a:srgbClr val="8B5CF6"/></a:solidFill>
    <a:latin typeface="Arial"/>
  </a:rPr>
  <a:t>Serviceable Obtainable Market

</a:t>
</a:r><a:r>
  <a:rPr lang="id-ID" sz="1100">
    <a:solidFill><a:srgbClr val="94A3B8"/></a:solidFill>
    <a:latin typeface="Arial"/>
  </a:rPr>
  <a:t>• Pasar photobooth kampus, kafe, pernikahan, &amp; komunitas pemuda di Indonesia (Tahun 1–3).
</a:t>
</a:r></a:p>
  </p:txBody>
</p:sp>
<p:sp>
  <p:nvSpPr>
    <p:cNvPr id="12" name="Shape_12"/>
    <p:cNvSpPr/>
    <p:nvPr/>
  </p:nvSpPr>
  <p:spPr>
    <a:xfrm>
      <a:off x="800000" y="4150000"/>
      <a:ext cx="10592000" cy="1850000"/>
    </a:xfrm>
    <a:prstGeom prst="roundRect"><a:avLst/></a:prstGeom>
    <a:solidFill><a:srgbClr val="141620"/></a:solidFill>
    <a:ln w="15000"><a:solidFill><a:srgbClr val="242735"/></a:solidFill></a:ln>
  </p:spPr>
</p:sp>
<p:sp>
  <p:nvSpPr>
    <p:cNvPr id="13" name="TextBox_13"/>
    <p:cNvSpPr txBox="1"/>
    <p:nvPr/>
  </p:nvSpPr>
  <p:spPr>
    <a:xfrm>
      <a:off x="1020000" y="4350000"/>
      <a:ext cx="10152000" cy="1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👥  </a:t>
</a:r><a:r>
  <a:rPr lang="id-ID" sz="1700" b="1">
    <a:solidFill><a:srgbClr val="FFFFFF"/></a:solidFill>
    <a:latin typeface="Arial"/>
  </a:rPr>
  <a:t>Target Profil Pengguna Utama
</a:t>
</a:r><a:r>
  <a:rPr lang="id-ID" sz="1100" b="1">
    <a:solidFill><a:srgbClr val="8B5CF6"/></a:solidFill>
    <a:latin typeface="Arial"/>
  </a:rPr>
  <a:t>Strategi Penetrasi Komunitas

</a:t>
</a:r><a:r>
  <a:rPr lang="id-ID" sz="1100">
    <a:solidFill><a:srgbClr val="94A3B8"/></a:solidFill>
    <a:latin typeface="Arial"/>
  </a:rPr>
  <a:t>• 1. Gen-Z &amp; Mahasiswa: Ingin konten visual viral untuk Instagram Story &amp; TikTok tanpa biaya.
</a:t>
</a:r><a:r>
  <a:rPr lang="id-ID" sz="1100">
    <a:solidFill><a:srgbClr val="94A3B8"/></a:solidFill>
    <a:latin typeface="Arial"/>
  </a:rPr>
  <a:t>• 2. Event Organizers &amp; Pengantin: Membutuhkan souvenir foto interaktif berbasis scan QR tanpa sewa mesin fisik mahal.
</a:t>
</a:r><a:r>
  <a:rPr lang="id-ID" sz="1100">
    <a:solidFill><a:srgbClr val="94A3B8"/></a:solidFill>
    <a:latin typeface="Arial"/>
  </a:rPr>
  <a:t>• 3. F&amp;B &amp; Retail Brands: Ingin meningkatkan interaksi pengunjung kafe dengan frame bertema khusus brand.
</a:t>
</a:r></a:p>
  </p:txBody>
</p:sp>
    </p:spTree>
  </p:cSld>
  <p:clrMapOvr><a:masterClrMapping/></p:clrMapOvr>
</p:sld>
</file>

<file path=ppt/slides/slide7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10B981"/></a:solidFill>
    <a:latin typeface="Arial"/>
  </a:rPr>
  <a:t>BUSINESS MODEL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Skema Pendapatan: B2B Event SaaS &amp; B2C Kemitraan</a:t>
</a:r></a:p>
  </p:txBody>
</p:sp>
<p:sp>
  <p:nvSpPr>
    <p:cNvPr id="6" name="Shape_6"/>
    <p:cNvSpPr/>
    <p:nvPr/>
  </p:nvSpPr>
  <p:spPr>
    <a:xfrm>
      <a:off x="800000" y="1950000"/>
      <a:ext cx="3350000" cy="4000000"/>
    </a:xfrm>
    <a:prstGeom prst="roundRect"><a:avLst/></a:prstGeom>
    <a:solidFill><a:srgbClr val="141620"/></a:solidFill>
    <a:ln w="15000"><a:solidFill><a:srgbClr val="2A2D3A"/></a:solidFill></a:ln>
  </p:spPr>
</p:sp>
<p:sp>
  <p:nvSpPr>
    <p:cNvPr id="7" name="TextBox_7"/>
    <p:cNvSpPr txBox="1"/>
    <p:nvPr/>
  </p:nvSpPr>
  <p:spPr>
    <a:xfrm>
      <a:off x="1020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💍  </a:t>
</a:r><a:r>
  <a:rPr lang="id-ID" sz="1700" b="1">
    <a:solidFill><a:srgbClr val="FFFFFF"/></a:solidFill>
    <a:latin typeface="Arial"/>
  </a:rPr>
  <a:t>1. B2B Event SaaS
</a:t>
</a:r><a:r>
  <a:rPr lang="id-ID" sz="1100" b="1">
    <a:solidFill><a:srgbClr val="8B5CF6"/></a:solidFill>
    <a:latin typeface="Arial"/>
  </a:rPr>
  <a:t>Paket Photobooth Acara

</a:t>
</a:r><a:r>
  <a:rPr lang="id-ID" sz="1100">
    <a:solidFill><a:srgbClr val="94A3B8"/></a:solidFill>
    <a:latin typeface="Arial"/>
  </a:rPr>
  <a:t>• Paket Wedding &amp; Birthday Pass: Rp 499k – Rp 1.5jt / acara.
</a:t>
</a:r><a:r>
  <a:rPr lang="id-ID" sz="1100">
    <a:solidFill><a:srgbClr val="94A3B8"/></a:solidFill>
    <a:latin typeface="Arial"/>
  </a:rPr>
  <a:t>• QR Code instan ditaruh di setiap meja tamu undangan.
</a:t>
</a:r><a:r>
  <a:rPr lang="id-ID" sz="1100">
    <a:solidFill><a:srgbClr val="94A3B8"/></a:solidFill>
    <a:latin typeface="Arial"/>
  </a:rPr>
  <a:t>• Frame custom bertuliskan nama pengantin / tema acara.
</a:t>
</a:r><a:r>
  <a:rPr lang="id-ID" sz="1100">
    <a:solidFill><a:srgbClr val="94A3B8"/></a:solidFill>
    <a:latin typeface="Arial"/>
  </a:rPr>
  <a:t>• Jauh lebih murah dibanding sewa mesin fisik (Rp 3jt - 8jt/hari).
</a:t>
</a:r></a:p>
  </p:txBody>
</p:sp>
<p:sp>
  <p:nvSpPr>
    <p:cNvPr id="8" name="Shape_8"/>
    <p:cNvSpPr/>
    <p:nvPr/>
  </p:nvSpPr>
  <p:spPr>
    <a:xfrm>
      <a:off x="4421000" y="1950000"/>
      <a:ext cx="3350000" cy="4000000"/>
    </a:xfrm>
    <a:prstGeom prst="roundRect"><a:avLst/></a:prstGeom>
    <a:solidFill><a:srgbClr val="141620"/></a:solidFill>
    <a:ln w="15000"><a:solidFill><a:srgbClr val="2A2D3A"/></a:solidFill></a:ln>
  </p:spPr>
</p:sp>
<p:sp>
  <p:nvSpPr>
    <p:cNvPr id="9" name="TextBox_9"/>
    <p:cNvSpPr txBox="1"/>
    <p:nvPr/>
  </p:nvSpPr>
  <p:spPr>
    <a:xfrm>
      <a:off x="4641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☕  </a:t>
</a:r><a:r>
  <a:rPr lang="id-ID" sz="1700" b="1">
    <a:solidFill><a:srgbClr val="FFFFFF"/></a:solidFill>
    <a:latin typeface="Arial"/>
  </a:rPr>
  <a:t>2. Brand Sponsorship
</a:t>
</a:r><a:r>
  <a:rPr lang="id-ID" sz="1100" b="1">
    <a:solidFill><a:srgbClr val="8B5CF6"/></a:solidFill>
    <a:latin typeface="Arial"/>
  </a:rPr>
  <a:t>Aktivasi Brand &amp; Kafe

</a:t>
</a:r><a:r>
  <a:rPr lang="id-ID" sz="1100">
    <a:solidFill><a:srgbClr val="94A3B8"/></a:solidFill>
    <a:latin typeface="Arial"/>
  </a:rPr>
  <a:t>• Brand kosmetik, fashion, &amp; kafe mensponsori frame khusus.
</a:t>
</a:r><a:r>
  <a:rPr lang="id-ID" sz="1100">
    <a:solidFill><a:srgbClr val="94A3B8"/></a:solidFill>
    <a:latin typeface="Arial"/>
  </a:rPr>
  <a:t>• Mendapatkan eksposur organik saat foto diunggah ke IG Story.
</a:t>
</a:r><a:r>
  <a:rPr lang="id-ID" sz="1100">
    <a:solidFill><a:srgbClr val="94A3B8"/></a:solidFill>
    <a:latin typeface="Arial"/>
  </a:rPr>
  <a:t>• Integrasi voucher diskon di footer frame cetak.
</a:t>
</a:r><a:r>
  <a:rPr lang="id-ID" sz="1100">
    <a:solidFill><a:srgbClr val="94A3B8"/></a:solidFill>
    <a:latin typeface="Arial"/>
  </a:rPr>
  <a:t>• Dashboard analitik impresi &amp; jumlah foto yang diambil.
</a:t>
</a:r></a:p>
  </p:txBody>
</p:sp>
<p:sp>
  <p:nvSpPr>
    <p:cNvPr id="10" name="Shape_10"/>
    <p:cNvSpPr/>
    <p:nvPr/>
  </p:nvSpPr>
  <p:spPr>
    <a:xfrm>
      <a:off x="8042000" y="1950000"/>
      <a:ext cx="3350000" cy="4000000"/>
    </a:xfrm>
    <a:prstGeom prst="roundRect"><a:avLst/></a:prstGeom>
    <a:solidFill><a:srgbClr val="141620"/></a:solidFill>
    <a:ln w="15000"><a:solidFill><a:srgbClr val="2A2D3A"/></a:solidFill></a:ln>
  </p:spPr>
</p:sp>
<p:sp>
  <p:nvSpPr>
    <p:cNvPr id="11" name="TextBox_11"/>
    <p:cNvSpPr txBox="1"/>
    <p:nvPr/>
  </p:nvSpPr>
  <p:spPr>
    <a:xfrm>
      <a:off x="8262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📦  </a:t>
</a:r><a:r>
  <a:rPr lang="id-ID" sz="1700" b="1">
    <a:solidFill><a:srgbClr val="FFFFFF"/></a:solidFill>
    <a:latin typeface="Arial"/>
  </a:rPr>
  <a:t>3. Print-on-Demand
</a:t>
</a:r><a:r>
  <a:rPr lang="id-ID" sz="1100" b="1">
    <a:solidFill><a:srgbClr val="8B5CF6"/></a:solidFill>
    <a:latin typeface="Arial"/>
  </a:rPr>
  <a:t>Cetak Fisik &amp; Kirim

</a:t>
</a:r><a:r>
  <a:rPr lang="id-ID" sz="1100">
    <a:solidFill><a:srgbClr val="94A3B8"/></a:solidFill>
    <a:latin typeface="Arial"/>
  </a:rPr>
  <a:t>• Bekerja sama dengan lab percetakan foto lokal di tiap kota.
</a:t>
</a:r><a:r>
  <a:rPr lang="id-ID" sz="1100">
    <a:solidFill><a:srgbClr val="94A3B8"/></a:solidFill>
    <a:latin typeface="Arial"/>
  </a:rPr>
  <a:t>• User cukup klik &#x27;Cetak &amp; Kirim ke Rumah&#x27; (Rp 15k - 25k/set).
</a:t>
</a:r><a:r>
  <a:rPr lang="id-ID" sz="1100">
    <a:solidFill><a:srgbClr val="94A3B8"/></a:solidFill>
    <a:latin typeface="Arial"/>
  </a:rPr>
  <a:t>• IziaPhoto mengambil margin komisi 30-40% per transaksi.
</a:t>
</a:r><a:r>
  <a:rPr lang="id-ID" sz="1100">
    <a:solidFill><a:srgbClr val="94A3B8"/></a:solidFill>
    <a:latin typeface="Arial"/>
  </a:rPr>
  <a:t>• Format kemasan premium amplop estetik.
</a:t>
</a:r></a:p>
  </p:txBody>
</p:sp>
    </p:spTree>
  </p:cSld>
  <p:clrMapOvr><a:masterClrMapping/></p:clrMapOvr>
</p:sld>
</file>

<file path=ppt/slides/slide8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F43F5E"/></a:solidFill>
    <a:latin typeface="Arial"/>
  </a:rPr>
  <a:t>COMPETITIVE LANDSCAPE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Mengapa IziaPhoto Unggul Dibandingkan Alternatif Lain</a:t>
</a:r></a:p>
  </p:txBody>
</p:sp>
<p:sp>
  <p:nvSpPr>
    <p:cNvPr id="6" name="Shape_6"/>
    <p:cNvSpPr/>
    <p:nvPr/>
  </p:nvSpPr>
  <p:spPr>
    <a:xfrm>
      <a:off x="800000" y="1950000"/>
      <a:ext cx="3350000" cy="4000000"/>
    </a:xfrm>
    <a:prstGeom prst="roundRect"><a:avLst/></a:prstGeom>
    <a:solidFill><a:srgbClr val="1A1015"/></a:solidFill>
    <a:ln w="15000"><a:solidFill><a:srgbClr val="3D1A24"/></a:solidFill></a:ln>
  </p:spPr>
</p:sp>
<p:sp>
  <p:nvSpPr>
    <p:cNvPr id="7" name="TextBox_7"/>
    <p:cNvSpPr txBox="1"/>
    <p:nvPr/>
  </p:nvSpPr>
  <p:spPr>
    <a:xfrm>
      <a:off x="1020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🏢  </a:t>
</a:r><a:r>
  <a:rPr lang="id-ID" sz="1700" b="1">
    <a:solidFill><a:srgbClr val="FFFFFF"/></a:solidFill>
    <a:latin typeface="Arial"/>
  </a:rPr>
  <a:t>Mesin Photobooth Fisik
</a:t>
</a:r><a:r>
  <a:rPr lang="id-ID" sz="1100" b="1">
    <a:solidFill><a:srgbClr val="8B5CF6"/></a:solidFill>
    <a:latin typeface="Arial"/>
  </a:rPr>
  <a:t>Self-Photo Studio Mall

</a:t>
</a:r><a:r>
  <a:rPr lang="id-ID" sz="1100">
    <a:solidFill><a:srgbClr val="94A3B8"/></a:solidFill>
    <a:latin typeface="Arial"/>
  </a:rPr>
  <a:t>• Biaya: Mahal (Rp 35k - 65k).
</a:t>
</a:r><a:r>
  <a:rPr lang="id-ID" sz="1100">
    <a:solidFill><a:srgbClr val="94A3B8"/></a:solidFill>
    <a:latin typeface="Arial"/>
  </a:rPr>
  <a:t>• Lokasi: Terbatas di mall kota besar.
</a:t>
</a:r><a:r>
  <a:rPr lang="id-ID" sz="1100">
    <a:solidFill><a:srgbClr val="94A3B8"/></a:solidFill>
    <a:latin typeface="Arial"/>
  </a:rPr>
  <a:t>• Setup: Butuh angkut hardware 100kg.
</a:t>
</a:r><a:r>
  <a:rPr lang="id-ID" sz="1100">
    <a:solidFill><a:srgbClr val="94A3B8"/></a:solidFill>
    <a:latin typeface="Arial"/>
  </a:rPr>
  <a:t>• Kustomisasi: Kaku, template terbatas.
</a:t>
</a:r><a:r>
  <a:rPr lang="id-ID" sz="1100">
    <a:solidFill><a:srgbClr val="94A3B8"/></a:solidFill>
    <a:latin typeface="Arial"/>
  </a:rPr>
  <a:t>• Antrean: Panjang dan membuang waktu.
</a:t>
</a:r></a:p>
  </p:txBody>
</p:sp>
<p:sp>
  <p:nvSpPr>
    <p:cNvPr id="8" name="Shape_8"/>
    <p:cNvSpPr/>
    <p:nvPr/>
  </p:nvSpPr>
  <p:spPr>
    <a:xfrm>
      <a:off x="4421000" y="1950000"/>
      <a:ext cx="3350000" cy="4000000"/>
    </a:xfrm>
    <a:prstGeom prst="roundRect"><a:avLst/></a:prstGeom>
    <a:solidFill><a:srgbClr val="1A1015"/></a:solidFill>
    <a:ln w="15000"><a:solidFill><a:srgbClr val="3D1A24"/></a:solidFill></a:ln>
  </p:spPr>
</p:sp>
<p:sp>
  <p:nvSpPr>
    <p:cNvPr id="9" name="TextBox_9"/>
    <p:cNvSpPr txBox="1"/>
    <p:nvPr/>
  </p:nvSpPr>
  <p:spPr>
    <a:xfrm>
      <a:off x="4641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📱  </a:t>
</a:r><a:r>
  <a:rPr lang="id-ID" sz="1700" b="1">
    <a:solidFill><a:srgbClr val="FFFFFF"/></a:solidFill>
    <a:latin typeface="Arial"/>
  </a:rPr>
  <a:t>Aplikasi Kamera Mobile
</a:t>
</a:r><a:r>
  <a:rPr lang="id-ID" sz="1100" b="1">
    <a:solidFill><a:srgbClr val="8B5CF6"/></a:solidFill>
    <a:latin typeface="Arial"/>
  </a:rPr>
  <a:t>Apps di App Store / Play Store

</a:t>
</a:r><a:r>
  <a:rPr lang="id-ID" sz="1100">
    <a:solidFill><a:srgbClr val="94A3B8"/></a:solidFill>
    <a:latin typeface="Arial"/>
  </a:rPr>
  <a:t>• Biaya: Gratis tapi penuh iklan spam.
</a:t>
</a:r><a:r>
  <a:rPr lang="id-ID" sz="1100">
    <a:solidFill><a:srgbClr val="94A3B8"/></a:solidFill>
    <a:latin typeface="Arial"/>
  </a:rPr>
  <a:t>• Akses: Wajib download 100MB+.
</a:t>
</a:r><a:r>
  <a:rPr lang="id-ID" sz="1100">
    <a:solidFill><a:srgbClr val="94A3B8"/></a:solidFill>
    <a:latin typeface="Arial"/>
  </a:rPr>
  <a:t>• Privasi: Foto diunggah ke cloud server.
</a:t>
</a:r><a:r>
  <a:rPr lang="id-ID" sz="1100">
    <a:solidFill><a:srgbClr val="94A3B8"/></a:solidFill>
    <a:latin typeface="Arial"/>
  </a:rPr>
  <a:t>• UX: Edit manual yang rumit.
</a:t>
</a:r><a:r>
  <a:rPr lang="id-ID" sz="1100">
    <a:solidFill><a:srgbClr val="94A3B8"/></a:solidFill>
    <a:latin typeface="Arial"/>
  </a:rPr>
  <a:t>• Device: Menghabiskan memori penyimpanan.
</a:t>
</a:r></a:p>
  </p:txBody>
</p:sp>
<p:sp>
  <p:nvSpPr>
    <p:cNvPr id="10" name="Shape_10"/>
    <p:cNvSpPr/>
    <p:nvPr/>
  </p:nvSpPr>
  <p:spPr>
    <a:xfrm>
      <a:off x="8042000" y="1950000"/>
      <a:ext cx="3350000" cy="4000000"/>
    </a:xfrm>
    <a:prstGeom prst="roundRect"><a:avLst/></a:prstGeom>
    <a:solidFill><a:srgbClr val="0F2920"/></a:solidFill>
    <a:ln w="15000"><a:solidFill><a:srgbClr val="1B4D3E"/></a:solidFill></a:ln>
  </p:spPr>
</p:sp>
<p:sp>
  <p:nvSpPr>
    <p:cNvPr id="11" name="TextBox_11"/>
    <p:cNvSpPr txBox="1"/>
    <p:nvPr/>
  </p:nvSpPr>
  <p:spPr>
    <a:xfrm>
      <a:off x="8262000" y="2150000"/>
      <a:ext cx="291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🏆  </a:t>
</a:r><a:r>
  <a:rPr lang="id-ID" sz="1700" b="1">
    <a:solidFill><a:srgbClr val="FFFFFF"/></a:solidFill>
    <a:latin typeface="Arial"/>
  </a:rPr>
  <a:t>IziaPhoto 🌟
</a:t>
</a:r><a:r>
  <a:rPr lang="id-ID" sz="1100" b="1">
    <a:solidFill><a:srgbClr val="8B5CF6"/></a:solidFill>
    <a:latin typeface="Arial"/>
  </a:rPr>
  <a:t>The Next-Gen Digital Photobooth

</a:t>
</a:r><a:r>
  <a:rPr lang="id-ID" sz="1100">
    <a:solidFill><a:srgbClr val="94A3B8"/></a:solidFill>
    <a:latin typeface="Arial"/>
  </a:rPr>
  <a:t>• Biaya: 100% Gratis untuk pengguna.
</a:t>
</a:r><a:r>
  <a:rPr lang="id-ID" sz="1100">
    <a:solidFill><a:srgbClr val="94A3B8"/></a:solidFill>
    <a:latin typeface="Arial"/>
  </a:rPr>
  <a:t>• Akses: Cukup klik link URL di browser.
</a:t>
</a:r><a:r>
  <a:rPr lang="id-ID" sz="1100">
    <a:solidFill><a:srgbClr val="94A3B8"/></a:solidFill>
    <a:latin typeface="Arial"/>
  </a:rPr>
  <a:t>• Privasi: 100% Client-Side (Zero upload).
</a:t>
</a:r><a:r>
  <a:rPr lang="id-ID" sz="1100">
    <a:solidFill><a:srgbClr val="94A3B8"/></a:solidFill>
    <a:latin typeface="Arial"/>
  </a:rPr>
  <a:t>• Kustomisasi: In-app live custom builder.
</a:t>
</a:r><a:r>
  <a:rPr lang="id-ID" sz="1100">
    <a:solidFill><a:srgbClr val="94A3B8"/></a:solidFill>
    <a:latin typeface="Arial"/>
  </a:rPr>
  <a:t>• Setup Event: Instan dengan QR Code.
</a:t>
</a:r></a:p>
  </p:txBody>
</p:sp>
    </p:spTree>
  </p:cSld>
  <p:clrMapOvr><a:masterClrMapping/></p:clrMapOvr>
</p:sld>
</file>

<file path=ppt/slides/slide9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8B5CF6"/></a:solidFill>
    <a:latin typeface="Arial"/>
  </a:rPr>
  <a:t>PRODUCT ROADMAP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Tahapan Pengembangan &amp; Rencana Pertumbuhan</a:t>
</a:r></a:p>
  </p:txBody>
</p:sp>
<p:sp>
  <p:nvSpPr>
    <p:cNvPr id="6" name="Shape_6"/>
    <p:cNvSpPr/>
    <p:nvPr/>
  </p:nvSpPr>
  <p:spPr>
    <a:xfrm>
      <a:off x="800000" y="2000000"/>
      <a:ext cx="2450000" cy="3900000"/>
    </a:xfrm>
    <a:prstGeom prst="roundRect"><a:avLst/></a:prstGeom>
    <a:solidFill><a:srgbClr val="141620"/></a:solidFill>
    <a:ln w="15000"><a:solidFill><a:srgbClr val="2A2D3A"/></a:solidFill></a:ln>
  </p:spPr>
</p:sp>
<p:sp>
  <p:nvSpPr>
    <p:cNvPr id="7" name="TextBox_7"/>
    <p:cNvSpPr txBox="1"/>
    <p:nvPr/>
  </p:nvSpPr>
  <p:spPr>
    <a:xfrm>
      <a:off x="102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🚀  </a:t>
</a:r><a:r>
  <a:rPr lang="id-ID" sz="1700" b="1">
    <a:solidFill><a:srgbClr val="FFFFFF"/></a:solidFill>
    <a:latin typeface="Arial"/>
  </a:rPr>
  <a:t>Q1 - Q2 2026
MVP Launch
</a:t>
</a:r><a:r>
  <a:rPr lang="id-ID" sz="1100" b="1">
    <a:solidFill><a:srgbClr val="8B5CF6"/></a:solidFill>
    <a:latin typeface="Arial"/>
  </a:rPr>
  <a:t>Fase Selesai ✓

</a:t>
</a:r><a:r>
  <a:rPr lang="id-ID" sz="1100">
    <a:solidFill><a:srgbClr val="94A3B8"/></a:solidFill>
    <a:latin typeface="Arial"/>
  </a:rPr>
  <a:t>• 22+ Desain Template Estetik.
</a:t>
</a:r><a:r>
  <a:rPr lang="id-ID" sz="1100">
    <a:solidFill><a:srgbClr val="94A3B8"/></a:solidFill>
    <a:latin typeface="Arial"/>
  </a:rPr>
  <a:t>• In-App Custom Frame Builder.
</a:t>
</a:r><a:r>
  <a:rPr lang="id-ID" sz="1100">
    <a:solidFill><a:srgbClr val="94A3B8"/></a:solidFill>
    <a:latin typeface="Arial"/>
  </a:rPr>
  <a:t>• Dynamic Contrast Color Engine.
</a:t>
</a:r><a:r>
  <a:rPr lang="id-ID" sz="1100">
    <a:solidFill><a:srgbClr val="94A3B8"/></a:solidFill>
    <a:latin typeface="Arial"/>
  </a:rPr>
  <a:t>• Canvas HD Export &amp; Firebase Live.
</a:t>
</a:r></a:p>
  </p:txBody>
</p:sp>
<p:sp>
  <p:nvSpPr>
    <p:cNvPr id="8" name="Shape_8"/>
    <p:cNvSpPr/>
    <p:nvPr/>
  </p:nvSpPr>
  <p:spPr>
    <a:xfrm>
      <a:off x="3510000" y="2000000"/>
      <a:ext cx="2450000" cy="3900000"/>
    </a:xfrm>
    <a:prstGeom prst="roundRect"><a:avLst/></a:prstGeom>
    <a:solidFill><a:srgbClr val="141620"/></a:solidFill>
    <a:ln w="15000"><a:solidFill><a:srgbClr val="2A2D3A"/></a:solidFill></a:ln>
  </p:spPr>
</p:sp>
<p:sp>
  <p:nvSpPr>
    <p:cNvPr id="9" name="TextBox_9"/>
    <p:cNvSpPr txBox="1"/>
    <p:nvPr/>
  </p:nvSpPr>
  <p:spPr>
    <a:xfrm>
      <a:off x="373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🚀  </a:t>
</a:r><a:r>
  <a:rPr lang="id-ID" sz="1700" b="1">
    <a:solidFill><a:srgbClr val="FFFFFF"/></a:solidFill>
    <a:latin typeface="Arial"/>
  </a:rPr>
  <a:t>Q3 2026
Event QR Mode
</a:t>
</a:r><a:r>
  <a:rPr lang="id-ID" sz="1100" b="1">
    <a:solidFill><a:srgbClr val="8B5CF6"/></a:solidFill>
    <a:latin typeface="Arial"/>
  </a:rPr>
  <a:t>Fase Berikutnya

</a:t>
</a:r><a:r>
  <a:rPr lang="id-ID" sz="1100">
    <a:solidFill><a:srgbClr val="94A3B8"/></a:solidFill>
    <a:latin typeface="Arial"/>
  </a:rPr>
  <a:t>• QR Booth Mode untuk Pernikahan.
</a:t>
</a:r><a:r>
  <a:rPr lang="id-ID" sz="1100">
    <a:solidFill><a:srgbClr val="94A3B8"/></a:solidFill>
    <a:latin typeface="Arial"/>
  </a:rPr>
  <a:t>• Sinkronisasi multi-kamera.
</a:t>
</a:r><a:r>
  <a:rPr lang="id-ID" sz="1100">
    <a:solidFill><a:srgbClr val="94A3B8"/></a:solidFill>
    <a:latin typeface="Arial"/>
  </a:rPr>
  <a:t>• Watermark logo sponsor otomatis.
</a:t>
</a:r><a:r>
  <a:rPr lang="id-ID" sz="1100">
    <a:solidFill><a:srgbClr val="94A3B8"/></a:solidFill>
    <a:latin typeface="Arial"/>
  </a:rPr>
  <a:t>• Gallery web display untuk layar proyektor.
</a:t>
</a:r></a:p>
  </p:txBody>
</p:sp>
<p:sp>
  <p:nvSpPr>
    <p:cNvPr id="10" name="Shape_10"/>
    <p:cNvSpPr/>
    <p:nvPr/>
  </p:nvSpPr>
  <p:spPr>
    <a:xfrm>
      <a:off x="6220000" y="2000000"/>
      <a:ext cx="2450000" cy="3900000"/>
    </a:xfrm>
    <a:prstGeom prst="roundRect"><a:avLst/></a:prstGeom>
    <a:solidFill><a:srgbClr val="141620"/></a:solidFill>
    <a:ln w="15000"><a:solidFill><a:srgbClr val="2A2D3A"/></a:solidFill></a:ln>
  </p:spPr>
</p:sp>
<p:sp>
  <p:nvSpPr>
    <p:cNvPr id="11" name="TextBox_11"/>
    <p:cNvSpPr txBox="1"/>
    <p:nvPr/>
  </p:nvSpPr>
  <p:spPr>
    <a:xfrm>
      <a:off x="644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🚀  </a:t>
</a:r><a:r>
  <a:rPr lang="id-ID" sz="1700" b="1">
    <a:solidFill><a:srgbClr val="FFFFFF"/></a:solidFill>
    <a:latin typeface="Arial"/>
  </a:rPr>
  <a:t>Q4 2026
Print-on-Demand
</a:t>
</a:r><a:r>
  <a:rPr lang="id-ID" sz="1100" b="1">
    <a:solidFill><a:srgbClr val="8B5CF6"/></a:solidFill>
    <a:latin typeface="Arial"/>
  </a:rPr>
  <a:t>Monetisasi B2C

</a:t>
</a:r><a:r>
  <a:rPr lang="id-ID" sz="1100">
    <a:solidFill><a:srgbClr val="94A3B8"/></a:solidFill>
    <a:latin typeface="Arial"/>
  </a:rPr>
  <a:t>• Integrasi pemesanan cetak fisik.
</a:t>
</a:r><a:r>
  <a:rPr lang="id-ID" sz="1100">
    <a:solidFill><a:srgbClr val="94A3B8"/></a:solidFill>
    <a:latin typeface="Arial"/>
  </a:rPr>
  <a:t>• Pengiriman kurir instan (Same-day).
</a:t>
</a:r><a:r>
  <a:rPr lang="id-ID" sz="1100">
    <a:solidFill><a:srgbClr val="94A3B8"/></a:solidFill>
    <a:latin typeface="Arial"/>
  </a:rPr>
  <a:t>• Marketplace kreator frame lokal.
</a:t>
</a:r><a:r>
  <a:rPr lang="id-ID" sz="1100">
    <a:solidFill><a:srgbClr val="94A3B8"/></a:solidFill>
    <a:latin typeface="Arial"/>
  </a:rPr>
  <a:t>• Stiker &amp; filter AR interaktif.
</a:t>
</a:r></a:p>
  </p:txBody>
</p:sp>
<p:sp>
  <p:nvSpPr>
    <p:cNvPr id="12" name="Shape_12"/>
    <p:cNvSpPr/>
    <p:nvPr/>
  </p:nvSpPr>
  <p:spPr>
    <a:xfrm>
      <a:off x="8930000" y="2000000"/>
      <a:ext cx="2450000" cy="3900000"/>
    </a:xfrm>
    <a:prstGeom prst="roundRect"><a:avLst/></a:prstGeom>
    <a:solidFill><a:srgbClr val="141620"/></a:solidFill>
    <a:ln w="15000"><a:solidFill><a:srgbClr val="2A2D3A"/></a:solidFill></a:ln>
  </p:spPr>
</p:sp>
<p:sp>
  <p:nvSpPr>
    <p:cNvPr id="13" name="TextBox_13"/>
    <p:cNvSpPr txBox="1"/>
    <p:nvPr/>
  </p:nvSpPr>
  <p:spPr>
    <a:xfrm>
      <a:off x="9150000" y="2200000"/>
      <a:ext cx="2010000" cy="35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🚀  </a:t>
</a:r><a:r>
  <a:rPr lang="id-ID" sz="1700" b="1">
    <a:solidFill><a:srgbClr val="FFFFFF"/></a:solidFill>
    <a:latin typeface="Arial"/>
  </a:rPr>
  <a:t>2027
Enterprise SaaS
</a:t>
</a:r><a:r>
  <a:rPr lang="id-ID" sz="1100" b="1">
    <a:solidFill><a:srgbClr val="8B5CF6"/></a:solidFill>
    <a:latin typeface="Arial"/>
  </a:rPr>
  <a:t>Skala Komersial

</a:t>
</a:r><a:r>
  <a:rPr lang="id-ID" sz="1100">
    <a:solidFill><a:srgbClr val="94A3B8"/></a:solidFill>
    <a:latin typeface="Arial"/>
  </a:rPr>
  <a:t>• Dashboard analitik event organizer.
</a:t>
</a:r><a:r>
  <a:rPr lang="id-ID" sz="1100">
    <a:solidFill><a:srgbClr val="94A3B8"/></a:solidFill>
    <a:latin typeface="Arial"/>
  </a:rPr>
  <a:t>• White-label custom domain perusahaan.
</a:t>
</a:r><a:r>
  <a:rPr lang="id-ID" sz="1100">
    <a:solidFill><a:srgbClr val="94A3B8"/></a:solidFill>
    <a:latin typeface="Arial"/>
  </a:rPr>
  <a:t>• Kios tablet mode untuk kafe/resto.
</a:t>
</a:r><a:r>
  <a:rPr lang="id-ID" sz="1100">
    <a:solidFill><a:srgbClr val="94A3B8"/></a:solidFill>
    <a:latin typeface="Arial"/>
  </a:rPr>
  <a:t>• Ekspansi pasar Asia Tenggara.
</a:t>
</a:r></a:p>
  </p:txBody>
</p:sp>
    </p:spTree>
  </p:cSld>
  <p:clrMapOvr><a:masterClrMapping/></p:clrMapOvr>
</p:sld>
</file>

<file path=ppt/slides/slide10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TextBox_4"/>
    <p:cNvSpPr txBox="1"/>
    <p:nvPr/>
  </p:nvSpPr>
  <p:spPr>
    <a:xfrm>
      <a:off x="800000" y="6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200" b="1">
    <a:solidFill><a:srgbClr val="F43F5E"/></a:solidFill>
    <a:latin typeface="Arial"/>
  </a:rPr>
  <a:t>LEADERSHIP</a:t>
</a:r></a:p>
  </p:txBody>
</p:sp>
<p:sp>
  <p:nvSpPr>
    <p:cNvPr id="5" name="TextBox_5"/>
    <p:cNvSpPr txBox="1"/>
    <p:nvPr/>
  </p:nvSpPr>
  <p:spPr>
    <a:xfrm>
      <a:off x="800000" y="1050000"/>
      <a:ext cx="105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2800" b="1">
    <a:solidFill><a:srgbClr val="FFFFFF"/></a:solidFill>
    <a:latin typeface="Arial"/>
  </a:rPr>
  <a:t>Profil Founder &amp; Developer</a:t>
</a:r></a:p>
  </p:txBody>
</p:sp>
<p:sp>
  <p:nvSpPr>
    <p:cNvPr id="6" name="Shape_6"/>
    <p:cNvSpPr/>
    <p:nvPr/>
  </p:nvSpPr>
  <p:spPr>
    <a:xfrm>
      <a:off x="800000" y="1950000"/>
      <a:ext cx="4800000" cy="4000000"/>
    </a:xfrm>
    <a:prstGeom prst="roundRect"><a:avLst/></a:prstGeom>
    <a:solidFill><a:srgbClr val="141620"/></a:solidFill>
    <a:ln w="15000"><a:solidFill><a:srgbClr val="2A2D3A"/></a:solidFill></a:ln>
  </p:spPr>
</p:sp>
<p:sp>
  <p:nvSpPr>
    <p:cNvPr id="7" name="TextBox_7"/>
    <p:cNvSpPr txBox="1"/>
    <p:nvPr/>
  </p:nvSpPr>
  <p:spPr>
    <a:xfrm>
      <a:off x="1020000" y="2150000"/>
      <a:ext cx="4360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👤  </a:t>
</a:r><a:r>
  <a:rPr lang="id-ID" sz="1700" b="1">
    <a:solidFill><a:srgbClr val="FFFFFF"/></a:solidFill>
    <a:latin typeface="Arial"/>
  </a:rPr>
  <a:t>Faris Izzi Asrori
</a:t>
</a:r><a:r>
  <a:rPr lang="id-ID" sz="1100" b="1">
    <a:solidFill><a:srgbClr val="8B5CF6"/></a:solidFill>
    <a:latin typeface="Arial"/>
  </a:rPr>
  <a:t>Founder &amp; Lead Architect

</a:t>
</a:r><a:r>
  <a:rPr lang="id-ID" sz="1100">
    <a:solidFill><a:srgbClr val="94A3B8"/></a:solidFill>
    <a:latin typeface="Arial"/>
  </a:rPr>
  <a:t>• Full-Stack Web Architect &amp; UI/UX Specialist.
</a:t>
</a:r><a:r>
  <a:rPr lang="id-ID" sz="1100">
    <a:solidFill><a:srgbClr val="94A3B8"/></a:solidFill>
    <a:latin typeface="Arial"/>
  </a:rPr>
  <a:t>• Membangun IziaPhoto secara mandiri dari tahap ideasi, riset performa canvas, desain tipografi, hingga arsitektur client-side rendering.
</a:t>
</a:r><a:r>
  <a:rPr lang="id-ID" sz="1100">
    <a:solidFill><a:srgbClr val="94A3B8"/></a:solidFill>
    <a:latin typeface="Arial"/>
  </a:rPr>
  <a:t>• Fokus pada performa produk tanpa latensi, zero cloud cost, dan keindahan antarmuka generasi baru Gen-Z.
</a:t>
</a:r><a:r>
  <a:rPr lang="id-ID" sz="1100">
    <a:solidFill><a:srgbClr val="94A3B8"/></a:solidFill>
    <a:latin typeface="Arial"/>
  </a:rPr>
  <a:t>• Email: farisiziaai@gmail.com
</a:t>
</a:r></a:p>
  </p:txBody>
</p:sp>
<p:sp>
  <p:nvSpPr>
    <p:cNvPr id="8" name="Shape_8"/>
    <p:cNvSpPr/>
    <p:nvPr/>
  </p:nvSpPr>
  <p:spPr>
    <a:xfrm>
      <a:off x="5860000" y="1950000"/>
      <a:ext cx="5532000" cy="4000000"/>
    </a:xfrm>
    <a:prstGeom prst="roundRect"><a:avLst/></a:prstGeom>
    <a:solidFill><a:srgbClr val="111319"/></a:solidFill>
    <a:ln w="15000"><a:solidFill><a:srgbClr val="242735"/></a:solidFill></a:ln>
  </p:spPr>
</p:sp>
<p:sp>
  <p:nvSpPr>
    <p:cNvPr id="9" name="TextBox_9"/>
    <p:cNvSpPr txBox="1"/>
    <p:nvPr/>
  </p:nvSpPr>
  <p:spPr>
    <a:xfrm>
      <a:off x="6080000" y="2150000"/>
      <a:ext cx="5092000" cy="36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l"/><a:r>
  <a:rPr lang="id-ID" sz="1800" b="1">
    <a:solidFill><a:srgbClr val="F43F5E"/></a:solidFill>
    <a:latin typeface="Arial"/>
  </a:rPr>
  <a:t>💡  </a:t>
</a:r><a:r>
  <a:rPr lang="id-ID" sz="1700" b="1">
    <a:solidFill><a:srgbClr val="FFFFFF"/></a:solidFill>
    <a:latin typeface="Arial"/>
  </a:rPr>
  <a:t>Visi &amp; Komitmen Produk
</a:t>
</a:r><a:r>
  <a:rPr lang="id-ID" sz="1100" b="1">
    <a:solidFill><a:srgbClr val="8B5CF6"/></a:solidFill>
    <a:latin typeface="Arial"/>
  </a:rPr>
  <a:t>Prinsip Utama IziaPhoto

</a:t>
</a:r><a:r>
  <a:rPr lang="id-ID" sz="1100">
    <a:solidFill><a:srgbClr val="94A3B8"/></a:solidFill>
    <a:latin typeface="Arial"/>
  </a:rPr>
  <a:t>• 1. Kualitas Tanpa Kompromi: Frame preview di web 100% identik dengan hasil ekspor cetak akhir.
</a:t>
</a:r><a:r>
  <a:rPr lang="id-ID" sz="1100">
    <a:solidFill><a:srgbClr val="94A3B8"/></a:solidFill>
    <a:latin typeface="Arial"/>
  </a:rPr>
  <a:t>• 2. Privasi Adalah Hak Dasar: Foto wajah tidak boleh dimonetisasi atau disimpan diam-diam di cloud server.
</a:t>
</a:r><a:r>
  <a:rPr lang="id-ID" sz="1100">
    <a:solidFill><a:srgbClr val="94A3B8"/></a:solidFill>
    <a:latin typeface="Arial"/>
  </a:rPr>
  <a:t>• 3. Aksesibilitas Universal: Siapa pun, dengan HP apa pun, dapat membuat kenangan indah tanpa hambatan biaya atau aplikasi.
</a:t>
</a:r><a:r>
  <a:rPr lang="id-ID" sz="1100">
    <a:solidFill><a:srgbClr val="94A3B8"/></a:solidFill>
    <a:latin typeface="Arial"/>
  </a:rPr>
  <a:t>• 4. Keberlanjutan Finansial: Arsitektur hemat komputasi memastikan bisnis dapat profitable sejak hari pertama.
</a:t>
</a:r></a:p>
  </p:txBody>
</p:sp>
    </p:spTree>
  </p:cSld>
  <p:clrMapOvr><a:masterClrMapping/></p:clrMapOvr>
</p:sld>
</file>

<file path=ppt/slides/slide1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<p:nvSpPr>
    <p:cNvPr id="3" name="Shape_3"/>
    <p:cNvSpPr/>
    <p:nvPr/>
  </p:nvSpPr>
  <p:spPr>
    <a:xfrm>
      <a:off x="0" y="0"/>
      <a:ext cx="12192000" cy="6858000"/>
    </a:xfrm>
    <a:prstGeom prst="rect"><a:avLst/></a:prstGeom>
    <a:solidFill><a:srgbClr val="0C0D12"/></a:solidFill>
    <a:ln><a:noFill/></a:ln>
  </p:spPr>
</p:sp>
<p:sp>
  <p:nvSpPr>
    <p:cNvPr id="4" name="Shape_4"/>
    <p:cNvSpPr/>
    <p:nvPr/>
  </p:nvSpPr>
  <p:spPr>
    <a:xfrm>
      <a:off x="0" y="0"/>
      <a:ext cx="12192000" cy="140000"/>
    </a:xfrm>
    <a:prstGeom prst="rect"><a:avLst/></a:prstGeom>
    <a:solidFill><a:srgbClr val="F43F5E"/></a:solidFill>
    <a:ln><a:noFill/></a:ln>
  </p:spPr>
</p:sp>
<p:sp>
  <p:nvSpPr>
    <p:cNvPr id="5" name="TextBox_5"/>
    <p:cNvSpPr txBox="1"/>
    <p:nvPr/>
  </p:nvSpPr>
  <p:spPr>
    <a:xfrm>
      <a:off x="800000" y="1400000"/>
      <a:ext cx="10592000" cy="450000"/>
    </a:xfrm>
    <a:prstGeom prst="roundRect" if bg_color else "rect"><a:avLst/></a:prstGeom>
    <a:noFill/>
    <a:ln><a:noFill/></a:ln>
  </p:spPr>
  <p:txBody>
    <a:bodyPr wrap="square" lIns="0" tIns="0" rIns="0" bIns="0"/>
    <a:lstStyle/>
    <a:p><a:pPr algn="ctr"/><a:r>
  <a:rPr lang="id-ID" sz="1400" b="1">
    <a:solidFill><a:srgbClr val="F43F5E"/></a:solidFill>
    <a:latin typeface="Arial"/>
  </a:rPr>
  <a:t>LET&#x27;S COLLABORATE</a:t>
</a:r></a:p>
  </p:txBody>
</p:sp>
<p:sp>
  <p:nvSpPr>
    <p:cNvPr id="6" name="TextBox_6"/>
    <p:cNvSpPr txBox="1"/>
    <p:nvPr/>
  </p:nvSpPr>
  <p:spPr>
    <a:xfrm>
      <a:off x="800000" y="1950000"/>
      <a:ext cx="10592000" cy="12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ctr"/><a:r>
  <a:rPr lang="id-ID" sz="4000" b="1">
    <a:solidFill><a:srgbClr val="FFFFFF"/></a:solidFill>
    <a:latin typeface="Arial"/>
  </a:rPr>
  <a:t>Mari Jadikan Setiap Momen
Lebih Mudah Diabadikan.</a:t>
</a:r></a:p>
  </p:txBody>
</p:sp>
<p:sp>
  <p:nvSpPr>
    <p:cNvPr id="7" name="TextBox_7"/>
    <p:cNvSpPr txBox="1"/>
    <p:nvPr/>
  </p:nvSpPr>
  <p:spPr>
    <a:xfrm>
      <a:off x="1200000" y="3350000"/>
      <a:ext cx="9792000" cy="7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ctr"/><a:r>
  <a:rPr lang="id-ID" sz="1500">
    <a:solidFill><a:srgbClr val="94A3B8"/></a:solidFill>
    <a:latin typeface="Arial"/>
  </a:rPr>
  <a:t>IziaPhoto siap berkolaborasi dengan Event Organizers, Brand Partners, dan Angel Investors untuk membawa pengalaman photobooth masa depan ke jutaan pengguna.</a:t>
</a:r></a:p>
  </p:txBody>
</p:sp>
<p:sp>
  <p:nvSpPr>
    <p:cNvPr id="8" name="Shape_8"/>
    <p:cNvSpPr/>
    <p:nvPr/>
  </p:nvSpPr>
  <p:spPr>
    <a:xfrm>
      <a:off x="1500000" y="4350000"/>
      <a:ext cx="9192000" cy="1500000"/>
    </a:xfrm>
    <a:prstGeom prst="roundRect"><a:avLst/></a:prstGeom>
    <a:solidFill><a:srgbClr val="141620"/></a:solidFill>
    <a:ln w="12700"><a:solidFill><a:srgbClr val="2A2D3A"/></a:solidFill></a:ln>
  </p:spPr>
</p:sp>
<p:sp>
  <p:nvSpPr>
    <p:cNvPr id="9" name="TextBox_9"/>
    <p:cNvSpPr txBox="1"/>
    <p:nvPr/>
  </p:nvSpPr>
  <p:spPr>
    <a:xfrm>
      <a:off x="1700000" y="4550000"/>
      <a:ext cx="8792000" cy="1100000"/>
    </a:xfrm>
    <a:prstGeom prst="roundRect" if bg_color else "rect"><a:avLst/></a:prstGeom>
    <a:noFill/>
    <a:ln><a:noFill/></a:ln>
  </p:spPr>
  <p:txBody>
    <a:bodyPr wrap="square" lIns="0" tIns="0" rIns="0" bIns="0"/>
    <a:lstStyle/>
    <a:p><a:pPr algn="ctr"/><a:r>
  <a:rPr lang="id-ID" sz="1400">
    <a:solidFill><a:srgbClr val="64748B"/></a:solidFill>
    <a:latin typeface="Arial"/>
  </a:rPr>
  <a:t>🌐 Live Web App: </a:t>
</a:r><a:r>
  <a:rPr lang="id-ID" sz="1500" b="1">
    <a:solidFill><a:srgbClr val="8B5CF6"/></a:solidFill>
    <a:latin typeface="Arial"/>
  </a:rPr>
  <a:t>https://iziaphoto.web.app
</a:t>
</a:r></a:p><a:p><a:pPr algn="ctr"/><a:r>
  <a:rPr lang="id-ID" sz="1400">
    <a:solidFill><a:srgbClr val="64748B"/></a:solidFill>
    <a:latin typeface="Arial"/>
  </a:rPr>
  <a:t>✉️ Kontak Email: </a:t>
</a:r><a:r>
  <a:rPr lang="id-ID" sz="1500" b="1">
    <a:solidFill><a:srgbClr val="FFFFFF"/></a:solidFill>
    <a:latin typeface="Arial"/>
  </a:rPr>
  <a:t>farisiziaai@gmail.com
</a:t>
</a:r></a:p><a:p><a:pPr algn="ctr"/><a:r>
  <a:rPr lang="id-ID" sz="1400">
    <a:solidFill><a:srgbClr val="64748B"/></a:solidFill>
    <a:latin typeface="Arial"/>
  </a:rPr>
  <a:t>🚀 Kategori Kemitraan: </a:t>
</a:r><a:r>
  <a:rPr lang="id-ID" sz="1400" b="1">
    <a:solidFill><a:srgbClr val="10B981"/></a:solidFill>
    <a:latin typeface="Arial"/>
  </a:rPr>
  <a:t>Wedding/Event Pilots • Brand Sponsorship • Seed Investment</a:t>
</a:r></a:p>
  </p:txBody>
</p:sp>
    </p:spTree>
  </p:cSld>
  <p:clrMapOvr><a:masterClrMapping/></p:clrMapOvr>
</p:sld>
</file>

<file path=ppt/theme/theme1.xml><?xml version="1.0" encoding="utf-8"?>
<a:theme xmlns:a="http://schemas.openxmlformats.org/drawingml/2006/main" name="IziaPhoto Modern Dark">
  <a:themeElements>
    <a:clrScheme name="IziaPhoto">
      <a:dk1>
        <a:srgbClr val="0C0D12"/>
      </a:dk1>
      <a:lt1>
        <a:srgbClr val="FFFFFF"/>
      </a:lt1>
      <a:dk2>
        <a:srgbClr val="181A22"/>
      </a:dk2>
      <a:lt2>
        <a:srgbClr val="94A3B8"/>
      </a:lt2>
      <a:accent1>
        <a:srgbClr val="F43F5E"/>
      </a:accent1>
      <a:accent2>
        <a:srgbClr val="8B5CF6"/>
      </a:accent2>
      <a:accent3>
        <a:srgbClr val="10B981"/>
      </a:accent3>
      <a:accent4>
        <a:srgbClr val="F59E0B"/>
      </a:accent4>
      <a:accent5>
        <a:srgbClr val="06B6D4"/>
      </a:accent5>
      <a:accent6>
        <a:srgbClr val="EC4899"/>
      </a:accent6>
      <a:hlink>
        <a:srgbClr val="F43F5E"/>
      </a:hlink>
      <a:folHlink>
        <a:srgbClr val="8B5CF6"/>
      </a:folHlink>
    </a:clrScheme>
    <a:fontScheme name="Modern">
      <a:majorFont>
        <a:latin typeface="Arial"/>
      </a:majorFont>
      <a:minorFont>
        <a:latin typeface="Arial"/>
      </a:minorFont>
    </a:fontScheme>
    <a:fmtScheme name="Office">
      <a:fillStyleLst>
        <a:solidFill>
          <a:srgbClr val="181A22"/>
        </a:solidFill>
      </a:fillStyleLst>
      <a:lnStyleLst>
        <a:ln w="9525">
          <a:solidFill>
            <a:srgbClr val="2A2D3A"/>
          </a:solidFill>
        </a:ln>
      </a:lnStyleLst>
      <a:effectStyleLst>
        <a:effectStyle>
          <a:effectLst/>
        </a:effectStyle>
      </a:effectStyleLst>
      <a:bgFillStyleLst>
        <a:solidFill>
          <a:srgbClr val="0C0D12"/>
        </a:solidFill>
      </a:bgFillStyleLst>
    </a:fmtScheme>
  </a:themeElements>
</a:theme>
</file>